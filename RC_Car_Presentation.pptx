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73" r:id="rId9"/>
    <p:sldId id="261" r:id="rId10"/>
    <p:sldId id="262" r:id="rId11"/>
    <p:sldId id="263" r:id="rId12"/>
    <p:sldId id="264" r:id="rId13"/>
    <p:sldId id="265" r:id="rId14"/>
    <p:sldId id="269" r:id="rId15"/>
    <p:sldId id="270" r:id="rId16"/>
    <p:sldId id="266" r:id="rId17"/>
    <p:sldId id="267" r:id="rId18"/>
    <p:sldId id="268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30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74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104C-DE71-945B-99FF-068510642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50855-1900-B49A-A443-0CBB06AC7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42559-DC08-6A15-6507-F72DDEA53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926C3-01C4-B84B-45D3-DC906EB24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44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9D72F-F00E-A35C-1BD6-2114A51B7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A79A9-3D9F-04CB-C336-A3F171FA1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C2B70-5327-2EA3-AAC0-41C914AC6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47F21-566C-BC8A-DDBF-FB4660950E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57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34C83-5496-8F98-4714-10AE1CE4E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E0828-96EE-7323-F0A0-CF4C2614C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7AD32-9716-A8CA-629B-218CF2129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DCCDB-7A4B-54C3-F8BF-93BC252A0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36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04769-3045-4E54-7184-303EE886D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6B4A1-B128-E269-F453-75C804831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681C7-DB42-F543-AD52-635EB2254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CD147-8457-FF59-F9DA-FB04AA93A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00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FBA4-0593-35FF-5C16-E7E565A5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4159B-21FD-F4FF-6B99-1B4F41BE0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ADBEE-BCEB-50FE-4DEC-EE8AF4C2B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2B6DC-EC7C-920A-F999-4C95747FDD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01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ECCAF-3CF5-144C-B215-FF6325CB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73429-E816-67F3-607F-934C6C18D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19286-0E7F-A538-AF22-6355201C4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EDAA7-C8FD-1A7C-5F57-86FD0FDF2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am95/RC_Car_Mark_I/tree/main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" y="905256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" y="1764792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" y="2624328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" y="3483864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" y="43434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457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0120" y="905256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1764792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" y="2624328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120" y="3483864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0120" y="43434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74520" y="457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74520" y="905256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74520" y="1764792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74520" y="2624328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74520" y="3483864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74520" y="43434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88920" y="457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88920" y="905256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88920" y="1764792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88920" y="2624328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88920" y="3483864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88920" y="43434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703320" y="457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03320" y="905256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703320" y="1764792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703320" y="2624328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03320" y="3483864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703320" y="43434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457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905256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17720" y="1764792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17720" y="2624328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17720" y="3483864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17720" y="43434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532120" y="457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532120" y="905256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532120" y="1764792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532120" y="2624328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532120" y="3483864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32120" y="43434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46520" y="457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46520" y="905256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446520" y="1764792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446520" y="2624328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46520" y="3483864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446520" y="43434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360920" y="457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360920" y="905256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360920" y="1764792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360920" y="2624328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360920" y="3483864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360920" y="43434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275320" y="457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275320" y="905256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275320" y="1764792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275320" y="2624328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275320" y="3483864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275320" y="43434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Car Mark I</a:t>
            </a:r>
            <a:endParaRPr lang="en-US" sz="4800" dirty="0"/>
          </a:p>
        </p:txBody>
      </p:sp>
      <p:sp>
        <p:nvSpPr>
          <p:cNvPr id="64" name="Text 62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Cruise Control — Master of Electrical Engineering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45720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Erickson A Mijangos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Electrical Engineering  |  Project Defense CSUF | Dr. Michael Turi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Goal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 is one of the most impactful engineering challenges of our time. This project applies core electrical engineering principles — embedded systems, control theory, sensor fusion, and software development — to a tangible, testable platform: an RC Car.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an RC Car that: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autonomously at a tuned speed using a PID controller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objects ahead with a LIDAR sensor and slows down or stops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real-time sensor data to a Python GUI for analysis and tuning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accelerometer calibration for improved velocity estimation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459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4630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408176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STM32H723ZG (RC Car)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STM32L432KC (Transmitter)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firmware, ISR-driven timing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1005840"/>
            <a:ext cx="2651760" cy="14630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74136" y="10972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Comms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74136" y="1408176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 2.4GHz RF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TX/RX at 20ms cycle</a:t>
            </a:r>
          </a:p>
          <a:p>
            <a:pPr marL="0" indent="0">
              <a:buNone/>
            </a:pPr>
            <a:endParaRPr lang="en-US" sz="11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71616" y="1005840"/>
            <a:ext cx="2651760" cy="14630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81344" y="10972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81344" y="1408176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Garmin LIDAR Lite V3 (I2C)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LIS3DH Accelerometer (SPI)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offset compensation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2651760" cy="14630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715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026664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 framework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estimation via Euler integration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speed and braking logic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64408" y="2624328"/>
            <a:ext cx="2651760" cy="14630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74136" y="2715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74136" y="3026664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GUI (PyQt5, PyQtGraph)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plotting &amp; data acquisition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for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71616" y="2624328"/>
            <a:ext cx="2651760" cy="14630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81344" y="2715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1344" y="3026664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Perfboard sensor integration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isolation (Traco DC-DC converter)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Optocoupler motor isolation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259" y="26289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subsystems working together over wireless and wired communication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4912" y="1600200"/>
            <a:ext cx="1645920" cy="1005840"/>
          </a:xfrm>
          <a:prstGeom prst="rect">
            <a:avLst/>
          </a:prstGeom>
          <a:solidFill>
            <a:srgbClr val="162030"/>
          </a:solidFill>
          <a:ln w="254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4912" y="16002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(STM32H723ZG)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72136" y="1611257"/>
            <a:ext cx="1645920" cy="1005840"/>
          </a:xfrm>
          <a:prstGeom prst="rect">
            <a:avLst/>
          </a:prstGeom>
          <a:solidFill>
            <a:srgbClr val="162030"/>
          </a:solidFill>
          <a:ln w="254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72136" y="1611257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(STM32L432KC)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30876" y="1611257"/>
            <a:ext cx="1645920" cy="1005840"/>
          </a:xfrm>
          <a:prstGeom prst="rect">
            <a:avLst/>
          </a:prstGeom>
          <a:solidFill>
            <a:srgbClr val="162030"/>
          </a:solidFill>
          <a:ln w="25400">
            <a:solidFill>
              <a:srgbClr val="00B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30876" y="1611257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GUI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(PyQt5)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8056" y="222847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baud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2287" y="2754257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LIDAR, LIS3DH IMU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Motors: DC + Servo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power supply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30876" y="2685677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plots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&amp; steering control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0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13A333-E9FE-6C27-DE9D-F41E716D64C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480832" y="2114177"/>
            <a:ext cx="1091304" cy="0"/>
          </a:xfrm>
          <a:prstGeom prst="straightConnector1">
            <a:avLst/>
          </a:prstGeom>
          <a:ln w="38100"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BA518A-0E2E-8591-26E1-054514181904}"/>
              </a:ext>
            </a:extLst>
          </p:cNvPr>
          <p:cNvCxnSpPr>
            <a:cxnSpLocks/>
          </p:cNvCxnSpPr>
          <p:nvPr/>
        </p:nvCxnSpPr>
        <p:spPr>
          <a:xfrm>
            <a:off x="5218056" y="2114177"/>
            <a:ext cx="1091304" cy="0"/>
          </a:xfrm>
          <a:prstGeom prst="straightConnector1">
            <a:avLst/>
          </a:prstGeom>
          <a:ln w="38100"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16">
            <a:extLst>
              <a:ext uri="{FF2B5EF4-FFF2-40B4-BE49-F238E27FC236}">
                <a16:creationId xmlns:a16="http://schemas.microsoft.com/office/drawing/2014/main" id="{5B308A29-D696-43EA-4309-2F97A2BC66C3}"/>
              </a:ext>
            </a:extLst>
          </p:cNvPr>
          <p:cNvSpPr/>
          <p:nvPr/>
        </p:nvSpPr>
        <p:spPr>
          <a:xfrm>
            <a:off x="2523564" y="21945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Modules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471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RC Car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725017"/>
              </p:ext>
            </p:extLst>
          </p:nvPr>
        </p:nvGraphicFramePr>
        <p:xfrm>
          <a:off x="365760" y="960119"/>
          <a:ext cx="5029200" cy="2331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/ 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STM32H723ZG </a:t>
                      </a:r>
                      <a:r>
                        <a:rPr lang="en-US" sz="1100" dirty="0" err="1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</a:t>
                      </a: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NRF24L01 (SPI)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Garmin LIDAR Lite V3 — 40m range (I2C)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LIS3DH Accelerometer (SPI)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IBT-4 50A H-Bridge (PWM 4kHz)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FOD8001 Optocoupler + TMH1205S DC-DC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5200mAh Li-ion Battery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Motor (PWM 50Hz, 1–2ms pulse)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0C97DB7-58FC-8BC9-0048-65A164E78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890" y="960119"/>
            <a:ext cx="3531097" cy="26483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56459-FD4C-5536-981B-E3E2628F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80498A-65C3-8816-AE85-88D0089292C0}"/>
              </a:ext>
            </a:extLst>
          </p:cNvPr>
          <p:cNvSpPr/>
          <p:nvPr/>
        </p:nvSpPr>
        <p:spPr>
          <a:xfrm>
            <a:off x="642471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Transmitter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557849-6FFD-C37A-FB74-6D9021053F18}"/>
              </a:ext>
            </a:extLst>
          </p:cNvPr>
          <p:cNvSpPr/>
          <p:nvPr/>
        </p:nvSpPr>
        <p:spPr>
          <a:xfrm>
            <a:off x="457200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DB0217AF-0299-5D50-87C2-2DA95BCEB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842930"/>
              </p:ext>
            </p:extLst>
          </p:nvPr>
        </p:nvGraphicFramePr>
        <p:xfrm>
          <a:off x="365760" y="960119"/>
          <a:ext cx="5029200" cy="1295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/ 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STM32L432KC </a:t>
                      </a:r>
                      <a:r>
                        <a:rPr lang="en-US" sz="1100" dirty="0" err="1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</a:t>
                      </a: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NRF24L01 (SPI)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Garmin LIDAR Lite V3 — 40m range (I2C)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LIS3DH Accelerometer (SPI)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7061406-5683-D5F6-8877-CC03DAABB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01712" y="1399623"/>
            <a:ext cx="3516032" cy="263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38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71F1F-8847-7DDA-7A20-0FA167588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9EAEDE-BC6B-69E2-F1C9-EDEFA055F9F1}"/>
              </a:ext>
            </a:extLst>
          </p:cNvPr>
          <p:cNvSpPr/>
          <p:nvPr/>
        </p:nvSpPr>
        <p:spPr>
          <a:xfrm>
            <a:off x="58868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Car: Schematic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96CAF4-6604-1A7A-DE16-2CDF9A27BABC}"/>
              </a:ext>
            </a:extLst>
          </p:cNvPr>
          <p:cNvSpPr/>
          <p:nvPr/>
        </p:nvSpPr>
        <p:spPr>
          <a:xfrm>
            <a:off x="393192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77739-0501-2846-28D9-93B0ECB1B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82" y="886300"/>
            <a:ext cx="7920318" cy="416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4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4F304-9CB9-0B08-3555-79C8419E3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E78465-F81F-F798-BF07-3F76C9FC484C}"/>
              </a:ext>
            </a:extLst>
          </p:cNvPr>
          <p:cNvSpPr/>
          <p:nvPr/>
        </p:nvSpPr>
        <p:spPr>
          <a:xfrm>
            <a:off x="58868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Car: Schematic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EA99FB-DDDD-53CF-4E1E-180DEA782C3E}"/>
              </a:ext>
            </a:extLst>
          </p:cNvPr>
          <p:cNvSpPr/>
          <p:nvPr/>
        </p:nvSpPr>
        <p:spPr>
          <a:xfrm>
            <a:off x="393192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D4342-B8AC-AE7C-149F-8CEBCB88D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367" y="898837"/>
            <a:ext cx="6281745" cy="402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48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68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Car: State Machine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93192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F0D22D1-9AB3-E97D-F84D-851E283C2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653" y="0"/>
            <a:ext cx="4326347" cy="5143500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302CAFBB-5E4C-123E-A3F6-76C08D8CE0C4}"/>
              </a:ext>
            </a:extLst>
          </p:cNvPr>
          <p:cNvSpPr/>
          <p:nvPr/>
        </p:nvSpPr>
        <p:spPr>
          <a:xfrm>
            <a:off x="820136" y="936768"/>
            <a:ext cx="1778374" cy="285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Status Indicators</a:t>
            </a:r>
            <a:endParaRPr lang="en-US" sz="120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1D773B6B-2234-9A99-2B2F-DCC93BA5C4C5}"/>
              </a:ext>
            </a:extLst>
          </p:cNvPr>
          <p:cNvSpPr/>
          <p:nvPr/>
        </p:nvSpPr>
        <p:spPr>
          <a:xfrm>
            <a:off x="393192" y="1220433"/>
            <a:ext cx="201168" cy="20116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9D965F8B-7913-526E-621F-259C6EFA1D6A}"/>
              </a:ext>
            </a:extLst>
          </p:cNvPr>
          <p:cNvSpPr/>
          <p:nvPr/>
        </p:nvSpPr>
        <p:spPr>
          <a:xfrm>
            <a:off x="820136" y="1193001"/>
            <a:ext cx="21313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— TX mode</a:t>
            </a:r>
            <a:endParaRPr lang="en-US" sz="90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3B6FAC69-D689-A9BE-CF06-6BCE8DF828B4}"/>
              </a:ext>
            </a:extLst>
          </p:cNvPr>
          <p:cNvSpPr/>
          <p:nvPr/>
        </p:nvSpPr>
        <p:spPr>
          <a:xfrm>
            <a:off x="393192" y="1513041"/>
            <a:ext cx="201168" cy="20116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C667EAF7-0020-A86C-04A5-6BD05A2A8D53}"/>
              </a:ext>
            </a:extLst>
          </p:cNvPr>
          <p:cNvSpPr/>
          <p:nvPr/>
        </p:nvSpPr>
        <p:spPr>
          <a:xfrm>
            <a:off x="820136" y="1485609"/>
            <a:ext cx="18993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packet transmitted in RC Car</a:t>
            </a:r>
            <a:endParaRPr lang="en-US" sz="900" dirty="0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1D1181A4-8D9B-E287-6688-277625C9D497}"/>
              </a:ext>
            </a:extLst>
          </p:cNvPr>
          <p:cNvSpPr/>
          <p:nvPr/>
        </p:nvSpPr>
        <p:spPr>
          <a:xfrm>
            <a:off x="393192" y="1805649"/>
            <a:ext cx="201168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DA428433-F206-9399-5428-4F48EA3DECD6}"/>
              </a:ext>
            </a:extLst>
          </p:cNvPr>
          <p:cNvSpPr/>
          <p:nvPr/>
        </p:nvSpPr>
        <p:spPr>
          <a:xfrm>
            <a:off x="820136" y="1755090"/>
            <a:ext cx="18993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RX mode 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Transmitter: State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2303" y="117662"/>
            <a:ext cx="64008" cy="8606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7941" y="1228328"/>
            <a:ext cx="1778374" cy="285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Status Indicators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08830" y="1513544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35774" y="1475019"/>
            <a:ext cx="25818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— RX mode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08830" y="1806152"/>
            <a:ext cx="201168" cy="20116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5774" y="1778720"/>
            <a:ext cx="21313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— TX mode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08830" y="2098760"/>
            <a:ext cx="201168" cy="20116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35774" y="2071328"/>
            <a:ext cx="21078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packet received from RC Car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08830" y="2391368"/>
            <a:ext cx="201168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35774" y="2340809"/>
            <a:ext cx="18993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command received from GUI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EFDF081-286B-A759-A4E6-DA5FD65A2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942" y="1"/>
            <a:ext cx="4757058" cy="35769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33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GUI — Real-Time Data Acquisition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COM port, connects to STM32L432KC over UART at 115200 baud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4297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slider (0–65535) with Forward / Backward / Disabled direction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4297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3225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QDial widget, range 50–100 (center=75), debounced 10ms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4297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980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Plots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9809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(cm), Acceleration (ax/ay/az in mg), Velocity (vx/vy/vz)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4297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6393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3639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stationary IMU samples, computes per-axis offsets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4297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4297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all data: time, distance, accel, velocity, PWM to file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18888"/>
            <a:ext cx="4297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BBF7E98-C483-797A-A536-CB23B0CCC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631" y="848644"/>
            <a:ext cx="4114968" cy="34507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&amp; Packet Format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RC Car → Transmitter → Python GUI over two wireless hops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Telemetry Packet (5 fields, 32 bytes)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16203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timestamp_ms , distance_cm , ax_mg , ay_mg , az_mg \n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Packet (4 fields — CAL mode only)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16203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timestamp_ms , ax_mg , ay_mg , az_mg \n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119218"/>
              </p:ext>
            </p:extLst>
          </p:nvPr>
        </p:nvGraphicFramePr>
        <p:xfrm>
          <a:off x="457200" y="3291840"/>
          <a:ext cx="8229600" cy="18105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timestamp_ms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since MCU boot unless 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distance_cm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distance to object ahead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ax_mg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X-axis acceleration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ay_mg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Y-axis acceleration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az_mg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Z-axis acceleration (~1000mg = ~1g stationary)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0407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Estimation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Method of Numerical Integration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8228" y="1280160"/>
            <a:ext cx="81862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v(t)  =  v(t−1)  +  a(t) × Δt        where  a [mg] × 0.001 × 9.81 → m/s²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drift — noise accumulates over time causing velocity to grow even when stationary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detection — integrator has no initial condition to reset when car stops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 Influence — RC Car tilt causes ax to feel a component of Earth's gravity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Mitigation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514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IMU samples collected before run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offset computed per axis (ax, ay, az)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removed from all measurements before integration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gravitational bias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4023360" cy="8229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NoCalibrationWF.png 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977640"/>
            <a:ext cx="4023360" cy="8229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CalibrationWF.png 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F1631-15C1-E3CE-711C-5F691FD5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E12AC6-C065-19E3-8350-716EDC4B5CED}"/>
              </a:ext>
            </a:extLst>
          </p:cNvPr>
          <p:cNvSpPr/>
          <p:nvPr/>
        </p:nvSpPr>
        <p:spPr>
          <a:xfrm>
            <a:off x="640080" y="50426"/>
            <a:ext cx="8229600" cy="1536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23F186E-AE46-914F-1E4C-5DB9B749E5D6}"/>
              </a:ext>
            </a:extLst>
          </p:cNvPr>
          <p:cNvSpPr/>
          <p:nvPr/>
        </p:nvSpPr>
        <p:spPr>
          <a:xfrm>
            <a:off x="301752" y="198344"/>
            <a:ext cx="64008" cy="12573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F9DCC-8852-5E5E-6E70-8C127E812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120" y="0"/>
            <a:ext cx="60988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315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8AC9C-6B32-55F4-4533-957C13CA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71B56C-5386-FA2B-9A5F-E67C4A8CC45A}"/>
              </a:ext>
            </a:extLst>
          </p:cNvPr>
          <p:cNvSpPr/>
          <p:nvPr/>
        </p:nvSpPr>
        <p:spPr>
          <a:xfrm>
            <a:off x="589654" y="237070"/>
            <a:ext cx="8229600" cy="1306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CBDE035-61E9-5C86-E10F-23DF5F26635F}"/>
              </a:ext>
            </a:extLst>
          </p:cNvPr>
          <p:cNvSpPr/>
          <p:nvPr/>
        </p:nvSpPr>
        <p:spPr>
          <a:xfrm>
            <a:off x="423582" y="271763"/>
            <a:ext cx="64008" cy="1237129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FCFC3-500A-186D-EE9D-37EB9AACA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514" y="0"/>
            <a:ext cx="61334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83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309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783080"/>
          </a:xfrm>
          <a:prstGeom prst="rect">
            <a:avLst/>
          </a:prstGeom>
          <a:solidFill>
            <a:srgbClr val="162030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Gap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 socket loosened after crash → intermittent 1–1.4s communication blackouts for a second and reconnects. 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Enclosure, direct solder for NRF24L01 RF Module.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60259" y="999116"/>
            <a:ext cx="4206240" cy="1783080"/>
          </a:xfrm>
          <a:prstGeom prst="rect">
            <a:avLst/>
          </a:prstGeom>
          <a:solidFill>
            <a:srgbClr val="162030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7419" y="10905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Integration Drift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7419" y="1438028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integration of noisy accelerometer data causes velocity to drift even when stationary. Tilt adds gravitational component to ax.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Calibration offset subtraction. Full solution requires sensor fusion (Hall effect + Kalman filter).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267" y="255629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64008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417320"/>
          </a:xfrm>
          <a:prstGeom prst="rect">
            <a:avLst/>
          </a:prstGeom>
          <a:solidFill>
            <a:srgbClr val="162030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0972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PID Controller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417320"/>
            <a:ext cx="24323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closed-loop speed control using the velocity estimate. Tune Kp, Ki, Kd on the RC Car and validate against LIDAR distance feedback.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63824" y="1005840"/>
            <a:ext cx="2651760" cy="1417320"/>
          </a:xfrm>
          <a:prstGeom prst="rect">
            <a:avLst/>
          </a:prstGeom>
          <a:solidFill>
            <a:srgbClr val="162030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73552" y="10972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Kalman Filter + Sensor Fusion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73552" y="1417320"/>
            <a:ext cx="24323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accelerometer (predictor) with Hall effect wheel speed sensor (observer) to correct integration drift. Foundation at kalmanfilter.net.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61888" y="1005840"/>
            <a:ext cx="2651760" cy="1417320"/>
          </a:xfrm>
          <a:prstGeom prst="rect">
            <a:avLst/>
          </a:prstGeom>
          <a:solidFill>
            <a:srgbClr val="162030"/>
          </a:solidFill>
          <a:ln w="19050">
            <a:solidFill>
              <a:srgbClr val="6C6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71616" y="10972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Hall Effect Velocity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71616" y="1417320"/>
            <a:ext cx="24323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A1133 Hall effect sensor near wheel hub with a magnet. Measure pulse intervals to compute precise linear velocity — eliminates drift.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69464"/>
            <a:ext cx="2651760" cy="1417320"/>
          </a:xfrm>
          <a:prstGeom prst="rect">
            <a:avLst/>
          </a:prstGeom>
          <a:solidFill>
            <a:srgbClr val="16203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66090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Savitzky-Golay Filter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980944"/>
            <a:ext cx="24323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polynomial smoothing over a sliding window to clean accelerometer noise without introducing the lag of a simple moving average.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63824" y="2569464"/>
            <a:ext cx="2651760" cy="1417320"/>
          </a:xfrm>
          <a:prstGeom prst="rect">
            <a:avLst/>
          </a:prstGeom>
          <a:solidFill>
            <a:srgbClr val="162030"/>
          </a:solidFill>
          <a:ln w="1905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73552" y="266090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RTOS Implementation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73552" y="2980944"/>
            <a:ext cx="24323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RTOS to sample more data on the sensor such as accelerometer to remove most of the noise.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1888" y="2569464"/>
            <a:ext cx="2651760" cy="1417320"/>
          </a:xfrm>
          <a:prstGeom prst="rect">
            <a:avLst/>
          </a:prstGeom>
          <a:solidFill>
            <a:srgbClr val="162030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71616" y="266090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Adaptive Cruise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71616" y="2980944"/>
            <a:ext cx="24323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PID speed control + LIDAR distance feedback to automatically maintain following distance and stop for stationary objects.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RC Car system with real-time wireless telemetry, bidirectional control, live data plotting, and accelerometer calibration.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learned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state machine design, ISR-driven timing, I2C/SPI sensor integration, NRF24L01 radio synchronization, PyQt5 threading, and the practical limits of accelerometer-based velocity estimation.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speed controller, Kalman filter sensor fusion with Hall effect velocity, custom PCB, and full Adaptive Cruise Control.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Car Mark I  |  Master of Electrical Engineering  |  Erickson Mijangos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72B13-4C24-C692-EF31-035C3406F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1C4598-C498-8649-B6B7-97E67EC80A5D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DD4473-34BA-4E3A-72BC-C44CB86C1696}"/>
              </a:ext>
            </a:extLst>
          </p:cNvPr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RC Car Mark I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17EBEE-7C44-69D9-202B-69BA2AF318F6}"/>
              </a:ext>
            </a:extLst>
          </p:cNvPr>
          <p:cNvSpPr/>
          <p:nvPr/>
        </p:nvSpPr>
        <p:spPr>
          <a:xfrm>
            <a:off x="457200" y="1188720"/>
            <a:ext cx="8229600" cy="481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2"/>
                </a:solidFill>
                <a:hlinkClick r:id="rId3"/>
              </a:rPr>
              <a:t>https://github.com/eam95/RC_Car_Mark_I/tree/main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73D904B-9510-A904-DDD7-694614D5117C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798ABA-31EA-FBA0-3D24-F13A48F19520}"/>
              </a:ext>
            </a:extLst>
          </p:cNvPr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Car Mark I  |  Master of Electrical Engineering  |  Erickson Mijangos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59189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1170</Words>
  <Application>Microsoft Office PowerPoint</Application>
  <PresentationFormat>On-screen Show (16:9)</PresentationFormat>
  <Paragraphs>211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 Car Mark I — Adaptive Cruise Control</dc:title>
  <dc:subject>PptxGenJS Presentation</dc:subject>
  <dc:creator>Erickson Mijangos</dc:creator>
  <cp:lastModifiedBy>Erickson Mijangos</cp:lastModifiedBy>
  <cp:revision>3</cp:revision>
  <dcterms:created xsi:type="dcterms:W3CDTF">2026-05-07T13:46:53Z</dcterms:created>
  <dcterms:modified xsi:type="dcterms:W3CDTF">2026-05-07T15:12:33Z</dcterms:modified>
</cp:coreProperties>
</file>