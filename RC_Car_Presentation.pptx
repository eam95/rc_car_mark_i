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1"/>
  </p:notesMasterIdLst>
  <p:sldIdLst>
    <p:sldId id="256" r:id="rId2"/>
    <p:sldId id="257" r:id="rId3"/>
    <p:sldId id="258" r:id="rId4"/>
    <p:sldId id="259" r:id="rId5"/>
    <p:sldId id="260" r:id="rId6"/>
    <p:sldId id="271" r:id="rId7"/>
    <p:sldId id="272" r:id="rId8"/>
    <p:sldId id="273" r:id="rId9"/>
    <p:sldId id="261" r:id="rId10"/>
    <p:sldId id="262" r:id="rId11"/>
    <p:sldId id="263" r:id="rId12"/>
    <p:sldId id="264" r:id="rId13"/>
    <p:sldId id="265" r:id="rId14"/>
    <p:sldId id="269" r:id="rId15"/>
    <p:sldId id="270" r:id="rId16"/>
    <p:sldId id="266" r:id="rId17"/>
    <p:sldId id="267" r:id="rId18"/>
    <p:sldId id="268" r:id="rId19"/>
    <p:sldId id="274" r:id="rId20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7" autoAdjust="0"/>
    <p:restoredTop sz="94610"/>
  </p:normalViewPr>
  <p:slideViewPr>
    <p:cSldViewPr snapToGrid="0" snapToObjects="1">
      <p:cViewPr varScale="1">
        <p:scale>
          <a:sx n="144" d="100"/>
          <a:sy n="144" d="100"/>
        </p:scale>
        <p:origin x="699" y="69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41274433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C6104C-DE71-945B-99FF-068510642A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F350855-1900-B49A-A443-0CBB06AC763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0442559-DC08-6A15-6507-F72DDEA538A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45926C3-01C4-B84B-45D3-DC906EB247E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634429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59D72F-F00E-A35C-1BD6-2114A51B7E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0AA79A9-3D9F-04CB-C336-A3F171FA101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B4C2B70-5327-2EA3-AAC0-41C914AC67F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3547F21-566C-BC8A-DDBF-FB4660950E2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2715717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434C83-5496-8F98-4714-10AE1CE4EC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1AE0828-96EE-7323-F0A0-CF4C2614CB4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AA7AD32-9716-A8CA-629B-218CF212994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A8DCCDB-7A4B-54C3-F8BF-93BC252A03E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083649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404769-3045-4E54-7184-303EE886D2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2D6B4A1-B128-E269-F453-75C8048317A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F5681C7-DB42-F543-AD52-635EB225450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7CCD147-8457-FF59-F9DA-FB04AA93A9A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93700534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47FBA4-0593-35FF-5C16-E7E565A5D1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784159B-21FD-F4FF-6B99-1B4F41BE0F8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38ADBEE-BCEB-50FE-4DEC-EE8AF4C2B08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202B6DC-EC7C-920A-F999-4C95747FDD6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4801959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DECCAF-3CF5-144C-B215-FF6325CB07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2E73429-E816-67F3-607F-934C6C18D93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5519286-0E7F-A538-AF22-6355201C48D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EEEDAA7-C8FD-1A7C-5F57-86FD0FDF299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1021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4" Type="http://schemas.openxmlformats.org/officeDocument/2006/relationships/hyperlink" Target="https://youtu.be/ox59gKyVjFU" TargetMode="Externa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4" Type="http://schemas.openxmlformats.org/officeDocument/2006/relationships/hyperlink" Target="https://youtu.be/ydO1_pEh5iw" TargetMode="Externa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eam95/RC_Car_Mark_I/tree/main" TargetMode="External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" y="45720"/>
            <a:ext cx="45720" cy="45720"/>
          </a:xfrm>
          <a:prstGeom prst="ellipse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45720" y="905256"/>
            <a:ext cx="45720" cy="45720"/>
          </a:xfrm>
          <a:prstGeom prst="ellipse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45720" y="1764792"/>
            <a:ext cx="45720" cy="45720"/>
          </a:xfrm>
          <a:prstGeom prst="ellipse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45720" y="2624328"/>
            <a:ext cx="45720" cy="45720"/>
          </a:xfrm>
          <a:prstGeom prst="ellipse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45720" y="3483864"/>
            <a:ext cx="45720" cy="45720"/>
          </a:xfrm>
          <a:prstGeom prst="ellipse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45720" y="4343400"/>
            <a:ext cx="45720" cy="45720"/>
          </a:xfrm>
          <a:prstGeom prst="ellipse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960120" y="45720"/>
            <a:ext cx="45720" cy="45720"/>
          </a:xfrm>
          <a:prstGeom prst="ellipse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960120" y="905256"/>
            <a:ext cx="45720" cy="45720"/>
          </a:xfrm>
          <a:prstGeom prst="ellipse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960120" y="1764792"/>
            <a:ext cx="45720" cy="45720"/>
          </a:xfrm>
          <a:prstGeom prst="ellipse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960120" y="2624328"/>
            <a:ext cx="45720" cy="45720"/>
          </a:xfrm>
          <a:prstGeom prst="ellipse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960120" y="3483864"/>
            <a:ext cx="45720" cy="45720"/>
          </a:xfrm>
          <a:prstGeom prst="ellipse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960120" y="4343400"/>
            <a:ext cx="45720" cy="45720"/>
          </a:xfrm>
          <a:prstGeom prst="ellipse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1874520" y="45720"/>
            <a:ext cx="45720" cy="45720"/>
          </a:xfrm>
          <a:prstGeom prst="ellipse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1874520" y="905256"/>
            <a:ext cx="45720" cy="45720"/>
          </a:xfrm>
          <a:prstGeom prst="ellipse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1874520" y="1764792"/>
            <a:ext cx="45720" cy="45720"/>
          </a:xfrm>
          <a:prstGeom prst="ellipse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1874520" y="2624328"/>
            <a:ext cx="45720" cy="45720"/>
          </a:xfrm>
          <a:prstGeom prst="ellipse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1874520" y="3483864"/>
            <a:ext cx="45720" cy="45720"/>
          </a:xfrm>
          <a:prstGeom prst="ellipse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1874520" y="4343400"/>
            <a:ext cx="45720" cy="45720"/>
          </a:xfrm>
          <a:prstGeom prst="ellipse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2788920" y="45720"/>
            <a:ext cx="45720" cy="45720"/>
          </a:xfrm>
          <a:prstGeom prst="ellipse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Shape 19"/>
          <p:cNvSpPr/>
          <p:nvPr/>
        </p:nvSpPr>
        <p:spPr>
          <a:xfrm>
            <a:off x="2788920" y="905256"/>
            <a:ext cx="45720" cy="45720"/>
          </a:xfrm>
          <a:prstGeom prst="ellipse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Shape 20"/>
          <p:cNvSpPr/>
          <p:nvPr/>
        </p:nvSpPr>
        <p:spPr>
          <a:xfrm>
            <a:off x="2788920" y="1764792"/>
            <a:ext cx="45720" cy="45720"/>
          </a:xfrm>
          <a:prstGeom prst="ellipse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Shape 21"/>
          <p:cNvSpPr/>
          <p:nvPr/>
        </p:nvSpPr>
        <p:spPr>
          <a:xfrm>
            <a:off x="2788920" y="2624328"/>
            <a:ext cx="45720" cy="45720"/>
          </a:xfrm>
          <a:prstGeom prst="ellipse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Shape 22"/>
          <p:cNvSpPr/>
          <p:nvPr/>
        </p:nvSpPr>
        <p:spPr>
          <a:xfrm>
            <a:off x="2788920" y="3483864"/>
            <a:ext cx="45720" cy="45720"/>
          </a:xfrm>
          <a:prstGeom prst="ellipse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Shape 23"/>
          <p:cNvSpPr/>
          <p:nvPr/>
        </p:nvSpPr>
        <p:spPr>
          <a:xfrm>
            <a:off x="2788920" y="4343400"/>
            <a:ext cx="45720" cy="45720"/>
          </a:xfrm>
          <a:prstGeom prst="ellipse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Shape 24"/>
          <p:cNvSpPr/>
          <p:nvPr/>
        </p:nvSpPr>
        <p:spPr>
          <a:xfrm>
            <a:off x="3703320" y="45720"/>
            <a:ext cx="45720" cy="45720"/>
          </a:xfrm>
          <a:prstGeom prst="ellipse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Shape 25"/>
          <p:cNvSpPr/>
          <p:nvPr/>
        </p:nvSpPr>
        <p:spPr>
          <a:xfrm>
            <a:off x="3703320" y="905256"/>
            <a:ext cx="45720" cy="45720"/>
          </a:xfrm>
          <a:prstGeom prst="ellipse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Shape 26"/>
          <p:cNvSpPr/>
          <p:nvPr/>
        </p:nvSpPr>
        <p:spPr>
          <a:xfrm>
            <a:off x="3703320" y="1764792"/>
            <a:ext cx="45720" cy="45720"/>
          </a:xfrm>
          <a:prstGeom prst="ellipse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Shape 27"/>
          <p:cNvSpPr/>
          <p:nvPr/>
        </p:nvSpPr>
        <p:spPr>
          <a:xfrm>
            <a:off x="3703320" y="2624328"/>
            <a:ext cx="45720" cy="45720"/>
          </a:xfrm>
          <a:prstGeom prst="ellipse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Shape 28"/>
          <p:cNvSpPr/>
          <p:nvPr/>
        </p:nvSpPr>
        <p:spPr>
          <a:xfrm>
            <a:off x="3703320" y="3483864"/>
            <a:ext cx="45720" cy="45720"/>
          </a:xfrm>
          <a:prstGeom prst="ellipse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Shape 29"/>
          <p:cNvSpPr/>
          <p:nvPr/>
        </p:nvSpPr>
        <p:spPr>
          <a:xfrm>
            <a:off x="3703320" y="4343400"/>
            <a:ext cx="45720" cy="45720"/>
          </a:xfrm>
          <a:prstGeom prst="ellipse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Shape 30"/>
          <p:cNvSpPr/>
          <p:nvPr/>
        </p:nvSpPr>
        <p:spPr>
          <a:xfrm>
            <a:off x="4617720" y="45720"/>
            <a:ext cx="45720" cy="45720"/>
          </a:xfrm>
          <a:prstGeom prst="ellipse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Shape 31"/>
          <p:cNvSpPr/>
          <p:nvPr/>
        </p:nvSpPr>
        <p:spPr>
          <a:xfrm>
            <a:off x="4617720" y="905256"/>
            <a:ext cx="45720" cy="45720"/>
          </a:xfrm>
          <a:prstGeom prst="ellipse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" name="Shape 32"/>
          <p:cNvSpPr/>
          <p:nvPr/>
        </p:nvSpPr>
        <p:spPr>
          <a:xfrm>
            <a:off x="4617720" y="1764792"/>
            <a:ext cx="45720" cy="45720"/>
          </a:xfrm>
          <a:prstGeom prst="ellipse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" name="Shape 33"/>
          <p:cNvSpPr/>
          <p:nvPr/>
        </p:nvSpPr>
        <p:spPr>
          <a:xfrm>
            <a:off x="4617720" y="2624328"/>
            <a:ext cx="45720" cy="45720"/>
          </a:xfrm>
          <a:prstGeom prst="ellipse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" name="Shape 34"/>
          <p:cNvSpPr/>
          <p:nvPr/>
        </p:nvSpPr>
        <p:spPr>
          <a:xfrm>
            <a:off x="4617720" y="3483864"/>
            <a:ext cx="45720" cy="45720"/>
          </a:xfrm>
          <a:prstGeom prst="ellipse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" name="Shape 35"/>
          <p:cNvSpPr/>
          <p:nvPr/>
        </p:nvSpPr>
        <p:spPr>
          <a:xfrm>
            <a:off x="4617720" y="4343400"/>
            <a:ext cx="45720" cy="45720"/>
          </a:xfrm>
          <a:prstGeom prst="ellipse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8" name="Shape 36"/>
          <p:cNvSpPr/>
          <p:nvPr/>
        </p:nvSpPr>
        <p:spPr>
          <a:xfrm>
            <a:off x="5532120" y="45720"/>
            <a:ext cx="45720" cy="45720"/>
          </a:xfrm>
          <a:prstGeom prst="ellipse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9" name="Shape 37"/>
          <p:cNvSpPr/>
          <p:nvPr/>
        </p:nvSpPr>
        <p:spPr>
          <a:xfrm>
            <a:off x="5532120" y="905256"/>
            <a:ext cx="45720" cy="45720"/>
          </a:xfrm>
          <a:prstGeom prst="ellipse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0" name="Shape 38"/>
          <p:cNvSpPr/>
          <p:nvPr/>
        </p:nvSpPr>
        <p:spPr>
          <a:xfrm>
            <a:off x="5532120" y="1764792"/>
            <a:ext cx="45720" cy="45720"/>
          </a:xfrm>
          <a:prstGeom prst="ellipse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1" name="Shape 39"/>
          <p:cNvSpPr/>
          <p:nvPr/>
        </p:nvSpPr>
        <p:spPr>
          <a:xfrm>
            <a:off x="5532120" y="2624328"/>
            <a:ext cx="45720" cy="45720"/>
          </a:xfrm>
          <a:prstGeom prst="ellipse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2" name="Shape 40"/>
          <p:cNvSpPr/>
          <p:nvPr/>
        </p:nvSpPr>
        <p:spPr>
          <a:xfrm>
            <a:off x="5532120" y="3483864"/>
            <a:ext cx="45720" cy="45720"/>
          </a:xfrm>
          <a:prstGeom prst="ellipse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3" name="Shape 41"/>
          <p:cNvSpPr/>
          <p:nvPr/>
        </p:nvSpPr>
        <p:spPr>
          <a:xfrm>
            <a:off x="5532120" y="4343400"/>
            <a:ext cx="45720" cy="45720"/>
          </a:xfrm>
          <a:prstGeom prst="ellipse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4" name="Shape 42"/>
          <p:cNvSpPr/>
          <p:nvPr/>
        </p:nvSpPr>
        <p:spPr>
          <a:xfrm>
            <a:off x="6446520" y="45720"/>
            <a:ext cx="45720" cy="45720"/>
          </a:xfrm>
          <a:prstGeom prst="ellipse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5" name="Shape 43"/>
          <p:cNvSpPr/>
          <p:nvPr/>
        </p:nvSpPr>
        <p:spPr>
          <a:xfrm>
            <a:off x="6446520" y="905256"/>
            <a:ext cx="45720" cy="45720"/>
          </a:xfrm>
          <a:prstGeom prst="ellipse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6" name="Shape 44"/>
          <p:cNvSpPr/>
          <p:nvPr/>
        </p:nvSpPr>
        <p:spPr>
          <a:xfrm>
            <a:off x="6446520" y="1764792"/>
            <a:ext cx="45720" cy="45720"/>
          </a:xfrm>
          <a:prstGeom prst="ellipse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7" name="Shape 45"/>
          <p:cNvSpPr/>
          <p:nvPr/>
        </p:nvSpPr>
        <p:spPr>
          <a:xfrm>
            <a:off x="6446520" y="2624328"/>
            <a:ext cx="45720" cy="45720"/>
          </a:xfrm>
          <a:prstGeom prst="ellipse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8" name="Shape 46"/>
          <p:cNvSpPr/>
          <p:nvPr/>
        </p:nvSpPr>
        <p:spPr>
          <a:xfrm>
            <a:off x="6446520" y="3483864"/>
            <a:ext cx="45720" cy="45720"/>
          </a:xfrm>
          <a:prstGeom prst="ellipse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9" name="Shape 47"/>
          <p:cNvSpPr/>
          <p:nvPr/>
        </p:nvSpPr>
        <p:spPr>
          <a:xfrm>
            <a:off x="6446520" y="4343400"/>
            <a:ext cx="45720" cy="45720"/>
          </a:xfrm>
          <a:prstGeom prst="ellipse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0" name="Shape 48"/>
          <p:cNvSpPr/>
          <p:nvPr/>
        </p:nvSpPr>
        <p:spPr>
          <a:xfrm>
            <a:off x="7360920" y="45720"/>
            <a:ext cx="45720" cy="45720"/>
          </a:xfrm>
          <a:prstGeom prst="ellipse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1" name="Shape 49"/>
          <p:cNvSpPr/>
          <p:nvPr/>
        </p:nvSpPr>
        <p:spPr>
          <a:xfrm>
            <a:off x="7360920" y="905256"/>
            <a:ext cx="45720" cy="45720"/>
          </a:xfrm>
          <a:prstGeom prst="ellipse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2" name="Shape 50"/>
          <p:cNvSpPr/>
          <p:nvPr/>
        </p:nvSpPr>
        <p:spPr>
          <a:xfrm>
            <a:off x="7360920" y="1764792"/>
            <a:ext cx="45720" cy="45720"/>
          </a:xfrm>
          <a:prstGeom prst="ellipse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3" name="Shape 51"/>
          <p:cNvSpPr/>
          <p:nvPr/>
        </p:nvSpPr>
        <p:spPr>
          <a:xfrm>
            <a:off x="7360920" y="2624328"/>
            <a:ext cx="45720" cy="45720"/>
          </a:xfrm>
          <a:prstGeom prst="ellipse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4" name="Shape 52"/>
          <p:cNvSpPr/>
          <p:nvPr/>
        </p:nvSpPr>
        <p:spPr>
          <a:xfrm>
            <a:off x="7360920" y="3483864"/>
            <a:ext cx="45720" cy="45720"/>
          </a:xfrm>
          <a:prstGeom prst="ellipse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5" name="Shape 53"/>
          <p:cNvSpPr/>
          <p:nvPr/>
        </p:nvSpPr>
        <p:spPr>
          <a:xfrm>
            <a:off x="7360920" y="4343400"/>
            <a:ext cx="45720" cy="45720"/>
          </a:xfrm>
          <a:prstGeom prst="ellipse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6" name="Shape 54"/>
          <p:cNvSpPr/>
          <p:nvPr/>
        </p:nvSpPr>
        <p:spPr>
          <a:xfrm>
            <a:off x="8275320" y="45720"/>
            <a:ext cx="45720" cy="45720"/>
          </a:xfrm>
          <a:prstGeom prst="ellipse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7" name="Shape 55"/>
          <p:cNvSpPr/>
          <p:nvPr/>
        </p:nvSpPr>
        <p:spPr>
          <a:xfrm>
            <a:off x="8275320" y="905256"/>
            <a:ext cx="45720" cy="45720"/>
          </a:xfrm>
          <a:prstGeom prst="ellipse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8" name="Shape 56"/>
          <p:cNvSpPr/>
          <p:nvPr/>
        </p:nvSpPr>
        <p:spPr>
          <a:xfrm>
            <a:off x="8275320" y="1764792"/>
            <a:ext cx="45720" cy="45720"/>
          </a:xfrm>
          <a:prstGeom prst="ellipse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9" name="Shape 57"/>
          <p:cNvSpPr/>
          <p:nvPr/>
        </p:nvSpPr>
        <p:spPr>
          <a:xfrm>
            <a:off x="8275320" y="2624328"/>
            <a:ext cx="45720" cy="45720"/>
          </a:xfrm>
          <a:prstGeom prst="ellipse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0" name="Shape 58"/>
          <p:cNvSpPr/>
          <p:nvPr/>
        </p:nvSpPr>
        <p:spPr>
          <a:xfrm>
            <a:off x="8275320" y="3483864"/>
            <a:ext cx="45720" cy="45720"/>
          </a:xfrm>
          <a:prstGeom prst="ellipse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1" name="Shape 59"/>
          <p:cNvSpPr/>
          <p:nvPr/>
        </p:nvSpPr>
        <p:spPr>
          <a:xfrm>
            <a:off x="8275320" y="4343400"/>
            <a:ext cx="45720" cy="45720"/>
          </a:xfrm>
          <a:prstGeom prst="ellipse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2" name="Shape 6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077B6"/>
          </a:solidFill>
          <a:ln w="12700">
            <a:solidFill>
              <a:srgbClr val="0077B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3" name="Text 61"/>
          <p:cNvSpPr/>
          <p:nvPr/>
        </p:nvSpPr>
        <p:spPr>
          <a:xfrm>
            <a:off x="457200" y="109728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RC Car Mark I</a:t>
            </a:r>
            <a:endParaRPr lang="en-US" sz="4800" dirty="0"/>
          </a:p>
        </p:txBody>
      </p:sp>
      <p:sp>
        <p:nvSpPr>
          <p:cNvPr id="64" name="Text 62"/>
          <p:cNvSpPr/>
          <p:nvPr/>
        </p:nvSpPr>
        <p:spPr>
          <a:xfrm>
            <a:off x="457200" y="196596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90E0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Adaptive Cruise Control — Master of Electrical Engineering</a:t>
            </a:r>
            <a:endParaRPr lang="en-US" sz="1800" dirty="0"/>
          </a:p>
        </p:txBody>
      </p:sp>
      <p:sp>
        <p:nvSpPr>
          <p:cNvPr id="65" name="Text 63"/>
          <p:cNvSpPr/>
          <p:nvPr/>
        </p:nvSpPr>
        <p:spPr>
          <a:xfrm>
            <a:off x="457200" y="251460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Erickson A Mijangos</a:t>
            </a:r>
            <a:endParaRPr lang="en-US" sz="1400" dirty="0"/>
          </a:p>
        </p:txBody>
      </p:sp>
      <p:sp>
        <p:nvSpPr>
          <p:cNvPr id="66" name="Shape 64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7" name="Text 65"/>
          <p:cNvSpPr/>
          <p:nvPr/>
        </p:nvSpPr>
        <p:spPr>
          <a:xfrm>
            <a:off x="274320" y="4773168"/>
            <a:ext cx="8595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Master of Electrical Engineering  |  Project Defense CSUF | Dr. Michael Turi 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56032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Motivation &amp; Goal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256032"/>
            <a:ext cx="64008" cy="594360"/>
          </a:xfrm>
          <a:prstGeom prst="rect">
            <a:avLst/>
          </a:prstGeom>
          <a:solidFill>
            <a:srgbClr val="0077B6"/>
          </a:solidFill>
          <a:ln w="12700">
            <a:solidFill>
              <a:srgbClr val="0077B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077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this project?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40080" y="1371600"/>
            <a:ext cx="78638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Autonomous driving is one of the most impactful engineering challenges of our time. This project applies core electrical engineering principles — embedded systems, control theory, sensor fusion, and software development — to a tangible, testable platform: an RC Car.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640080" y="2286000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077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Goal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640080" y="2651760"/>
            <a:ext cx="786384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and build an RC Car that: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Drives autonomously at a tuned speed using a PID controller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Detects objects ahead with a LIDAR sensor and slows down or stops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Transmits real-time sensor data to a Python GUI for analysis and tuning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Supports accelerometer calibration for improved velocity estimation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5459" y="256032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Engineering Disciplines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256032"/>
            <a:ext cx="64008" cy="594360"/>
          </a:xfrm>
          <a:prstGeom prst="rect">
            <a:avLst/>
          </a:prstGeom>
          <a:solidFill>
            <a:srgbClr val="0077B6"/>
          </a:solidFill>
          <a:ln w="12700">
            <a:solidFill>
              <a:srgbClr val="0077B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457200" y="1005840"/>
            <a:ext cx="2651760" cy="1463040"/>
          </a:xfrm>
          <a:prstGeom prst="rect">
            <a:avLst/>
          </a:prstGeom>
          <a:solidFill>
            <a:srgbClr val="162030"/>
          </a:solidFill>
          <a:ln w="12700">
            <a:solidFill>
              <a:srgbClr val="1E3A5F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566928" y="1097280"/>
            <a:ext cx="24323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77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Embedded Systems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66928" y="1408176"/>
            <a:ext cx="243230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STM32H723ZG (RC Car)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STM32L432KC (Transmitter)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machine firmware, ISR-driven timing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3264408" y="1005840"/>
            <a:ext cx="2651760" cy="1463040"/>
          </a:xfrm>
          <a:prstGeom prst="rect">
            <a:avLst/>
          </a:prstGeom>
          <a:solidFill>
            <a:srgbClr val="162030"/>
          </a:solidFill>
          <a:ln w="12700">
            <a:solidFill>
              <a:srgbClr val="1E3A5F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3374136" y="1097280"/>
            <a:ext cx="24323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77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Wireless Comms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3374136" y="1408176"/>
            <a:ext cx="243230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NRF24L01 2.4GHz RF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Bidirectional TX/RX at 20ms cycle</a:t>
            </a:r>
          </a:p>
          <a:p>
            <a:pPr marL="0" indent="0">
              <a:buNone/>
            </a:pPr>
            <a:endParaRPr lang="en-US" sz="1100" dirty="0">
              <a:solidFill>
                <a:srgbClr val="CBD5E1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6071616" y="1005840"/>
            <a:ext cx="2651760" cy="1463040"/>
          </a:xfrm>
          <a:prstGeom prst="rect">
            <a:avLst/>
          </a:prstGeom>
          <a:solidFill>
            <a:srgbClr val="162030"/>
          </a:solidFill>
          <a:ln w="12700">
            <a:solidFill>
              <a:srgbClr val="1E3A5F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6181344" y="1097280"/>
            <a:ext cx="24323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77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Sensor Integration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181344" y="1408176"/>
            <a:ext cx="243230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Garmin LIDAR Lite V3 (I2C)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LIS3DH Accelerometer (SPI)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Calibration &amp; offset compensation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57200" y="2624328"/>
            <a:ext cx="2651760" cy="1463040"/>
          </a:xfrm>
          <a:prstGeom prst="rect">
            <a:avLst/>
          </a:prstGeom>
          <a:solidFill>
            <a:srgbClr val="162030"/>
          </a:solidFill>
          <a:ln w="12700">
            <a:solidFill>
              <a:srgbClr val="1E3A5F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566928" y="2715768"/>
            <a:ext cx="24323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77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 Engineering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566928" y="3026664"/>
            <a:ext cx="243230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PID controller framework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Velocity estimation via Euler integration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Adaptive speed and braking logic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3264408" y="2624328"/>
            <a:ext cx="2651760" cy="1463040"/>
          </a:xfrm>
          <a:prstGeom prst="rect">
            <a:avLst/>
          </a:prstGeom>
          <a:solidFill>
            <a:srgbClr val="162030"/>
          </a:solidFill>
          <a:ln w="12700">
            <a:solidFill>
              <a:srgbClr val="1E3A5F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3374136" y="2715768"/>
            <a:ext cx="24323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77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Development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3374136" y="3026664"/>
            <a:ext cx="243230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GUI (PyQt5, PyQtGraph)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plotting &amp; data acquisition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CSV export for analysis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071616" y="2624328"/>
            <a:ext cx="2651760" cy="1463040"/>
          </a:xfrm>
          <a:prstGeom prst="rect">
            <a:avLst/>
          </a:prstGeom>
          <a:solidFill>
            <a:srgbClr val="162030"/>
          </a:solidFill>
          <a:ln w="12700">
            <a:solidFill>
              <a:srgbClr val="1E3A5F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6181344" y="2715768"/>
            <a:ext cx="24323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77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Hardware Design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6181344" y="3026664"/>
            <a:ext cx="243230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Perfboard sensor integration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 isolation (Traco DC-DC converter)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Optocoupler motor isolation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96259" y="26289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Architecture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256032"/>
            <a:ext cx="64008" cy="594360"/>
          </a:xfrm>
          <a:prstGeom prst="rect">
            <a:avLst/>
          </a:prstGeom>
          <a:solidFill>
            <a:srgbClr val="0077B6"/>
          </a:solidFill>
          <a:ln w="12700">
            <a:solidFill>
              <a:srgbClr val="0077B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457200" y="9144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subsystems working together over wireless and wired communication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834912" y="1600200"/>
            <a:ext cx="1645920" cy="1005840"/>
          </a:xfrm>
          <a:prstGeom prst="rect">
            <a:avLst/>
          </a:prstGeom>
          <a:solidFill>
            <a:srgbClr val="162030"/>
          </a:solidFill>
          <a:ln w="25400">
            <a:solidFill>
              <a:srgbClr val="0077B6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834912" y="1600200"/>
            <a:ext cx="1645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077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RC Car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0077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(STM32H723ZG)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572136" y="1611257"/>
            <a:ext cx="1645920" cy="1005840"/>
          </a:xfrm>
          <a:prstGeom prst="rect">
            <a:avLst/>
          </a:prstGeom>
          <a:solidFill>
            <a:srgbClr val="162030"/>
          </a:solidFill>
          <a:ln w="25400">
            <a:solidFill>
              <a:srgbClr val="0077B6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3572136" y="1611257"/>
            <a:ext cx="1645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077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Transmitter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0077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(STM32L432KC)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330876" y="1611257"/>
            <a:ext cx="1645920" cy="1005840"/>
          </a:xfrm>
          <a:prstGeom prst="rect">
            <a:avLst/>
          </a:prstGeom>
          <a:solidFill>
            <a:srgbClr val="162030"/>
          </a:solidFill>
          <a:ln w="25400">
            <a:solidFill>
              <a:srgbClr val="00B894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6330876" y="1611257"/>
            <a:ext cx="1645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0B8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GUI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00B8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(PyQt5)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5218056" y="2228478"/>
            <a:ext cx="1005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UART</a:t>
            </a:r>
            <a:endParaRPr lang="en-US" sz="90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115200 baud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892287" y="2754257"/>
            <a:ext cx="2194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Sensors: LIDAR, LIS3DH IMU</a:t>
            </a:r>
            <a:endParaRPr lang="en-US" sz="1000" dirty="0"/>
          </a:p>
          <a:p>
            <a:pPr marL="0" indent="0" algn="l">
              <a:buNone/>
            </a:pPr>
            <a:r>
              <a:rPr lang="en-US" sz="10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Motors: DC + Servo</a:t>
            </a:r>
            <a:endParaRPr lang="en-US" sz="1000" dirty="0"/>
          </a:p>
          <a:p>
            <a:pPr marL="0" indent="0" algn="l">
              <a:buNone/>
            </a:pPr>
            <a:r>
              <a:rPr lang="en-US" sz="10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Isolated power supply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330876" y="2685677"/>
            <a:ext cx="1828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plots</a:t>
            </a:r>
            <a:endParaRPr lang="en-US" sz="1000" dirty="0"/>
          </a:p>
          <a:p>
            <a:pPr marL="0" indent="0" algn="l">
              <a:buNone/>
            </a:pPr>
            <a:r>
              <a:rPr lang="en-US" sz="10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Motor &amp; steering control</a:t>
            </a:r>
            <a:endParaRPr lang="en-US" sz="1000" dirty="0"/>
          </a:p>
          <a:p>
            <a:pPr marL="0" indent="0" algn="l">
              <a:buNone/>
            </a:pPr>
            <a:r>
              <a:rPr lang="en-US" sz="10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CSV export</a:t>
            </a:r>
            <a:endParaRPr lang="en-US" sz="1000" dirty="0"/>
          </a:p>
          <a:p>
            <a:pPr marL="0" indent="0" algn="l">
              <a:buNone/>
            </a:pPr>
            <a:r>
              <a:rPr lang="en-US" sz="10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Calibration</a:t>
            </a:r>
            <a:endParaRPr lang="en-US" sz="1000" dirty="0"/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9813A333-E9FE-6C27-DE9D-F41E716D64CA}"/>
              </a:ext>
            </a:extLst>
          </p:cNvPr>
          <p:cNvCxnSpPr>
            <a:cxnSpLocks/>
            <a:endCxn id="9" idx="1"/>
          </p:cNvCxnSpPr>
          <p:nvPr/>
        </p:nvCxnSpPr>
        <p:spPr>
          <a:xfrm>
            <a:off x="2480832" y="2114177"/>
            <a:ext cx="1091304" cy="0"/>
          </a:xfrm>
          <a:prstGeom prst="straightConnector1">
            <a:avLst/>
          </a:prstGeom>
          <a:ln w="38100">
            <a:solidFill>
              <a:schemeClr val="bg2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80BA518A-0E2E-8591-26E1-054514181904}"/>
              </a:ext>
            </a:extLst>
          </p:cNvPr>
          <p:cNvCxnSpPr>
            <a:cxnSpLocks/>
          </p:cNvCxnSpPr>
          <p:nvPr/>
        </p:nvCxnSpPr>
        <p:spPr>
          <a:xfrm>
            <a:off x="5218056" y="2114177"/>
            <a:ext cx="1091304" cy="0"/>
          </a:xfrm>
          <a:prstGeom prst="straightConnector1">
            <a:avLst/>
          </a:prstGeom>
          <a:ln w="38100">
            <a:solidFill>
              <a:schemeClr val="bg2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Text 16">
            <a:extLst>
              <a:ext uri="{FF2B5EF4-FFF2-40B4-BE49-F238E27FC236}">
                <a16:creationId xmlns:a16="http://schemas.microsoft.com/office/drawing/2014/main" id="{5B308A29-D696-43EA-4309-2F97A2BC66C3}"/>
              </a:ext>
            </a:extLst>
          </p:cNvPr>
          <p:cNvSpPr/>
          <p:nvPr/>
        </p:nvSpPr>
        <p:spPr>
          <a:xfrm>
            <a:off x="2523564" y="2194560"/>
            <a:ext cx="1005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NRF24L01</a:t>
            </a:r>
          </a:p>
          <a:p>
            <a:pPr marL="0" indent="0" algn="ct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RF Modules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2471" y="256032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Hardware: RC Car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256032"/>
            <a:ext cx="64008" cy="594360"/>
          </a:xfrm>
          <a:prstGeom prst="rect">
            <a:avLst/>
          </a:prstGeom>
          <a:solidFill>
            <a:srgbClr val="0077B6"/>
          </a:solidFill>
          <a:ln w="12700">
            <a:solidFill>
              <a:srgbClr val="0077B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12813254"/>
              </p:ext>
            </p:extLst>
          </p:nvPr>
        </p:nvGraphicFramePr>
        <p:xfrm>
          <a:off x="365760" y="960119"/>
          <a:ext cx="5029200" cy="233172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2534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Component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Part / Detail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534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90E0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MCU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CBD5E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STM32H723ZG </a:t>
                      </a:r>
                      <a:r>
                        <a:rPr lang="en-US" sz="1100" dirty="0" err="1">
                          <a:solidFill>
                            <a:srgbClr val="CBD5E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Nucleo</a:t>
                      </a:r>
                      <a:r>
                        <a:rPr lang="en-US" sz="1100" dirty="0">
                          <a:solidFill>
                            <a:srgbClr val="CBD5E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-Board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534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90E0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RF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CBD5E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NRF24L01 (SPI)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2534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90E0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LIDAR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CBD5E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Garmin LIDAR Lite V3 — 40m range (I2C)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2534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90E0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IMU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CBD5E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LIS3DH Accelerometer (I2C)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2534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90E0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Motor Driver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CBD5E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IBT-4 50A H-Bridge (PWM 4kHz)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2534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90E0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Isolation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CBD5E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FOD8001 Optocoupler + TMH1205S DC-DC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2534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90E0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Power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CBD5E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12V 5200mAh Li-ion Battery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2534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90E0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Steering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CBD5E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Servo Motor (PWM 50Hz, 1–2ms pulse)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pic>
        <p:nvPicPr>
          <p:cNvPr id="8" name="Picture 7">
            <a:extLst>
              <a:ext uri="{FF2B5EF4-FFF2-40B4-BE49-F238E27FC236}">
                <a16:creationId xmlns:a16="http://schemas.microsoft.com/office/drawing/2014/main" id="{00C97DB7-58FC-8BC9-0048-65A164E78EA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8890" y="960119"/>
            <a:ext cx="3531097" cy="2648323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B2A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7356459-FD4C-5536-981B-E3E2628F79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D580498A-65C3-8816-AE85-88D0089292C0}"/>
              </a:ext>
            </a:extLst>
          </p:cNvPr>
          <p:cNvSpPr/>
          <p:nvPr/>
        </p:nvSpPr>
        <p:spPr>
          <a:xfrm>
            <a:off x="642471" y="256032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Hardware: Transmitter</a:t>
            </a:r>
            <a:endParaRPr lang="en-US" sz="3200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78557849-6FFD-C37A-FB74-6D9021053F18}"/>
              </a:ext>
            </a:extLst>
          </p:cNvPr>
          <p:cNvSpPr/>
          <p:nvPr/>
        </p:nvSpPr>
        <p:spPr>
          <a:xfrm>
            <a:off x="457200" y="256032"/>
            <a:ext cx="64008" cy="594360"/>
          </a:xfrm>
          <a:prstGeom prst="rect">
            <a:avLst/>
          </a:prstGeom>
          <a:solidFill>
            <a:srgbClr val="0077B6"/>
          </a:solidFill>
          <a:ln w="12700">
            <a:solidFill>
              <a:srgbClr val="0077B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graphicFrame>
        <p:nvGraphicFramePr>
          <p:cNvPr id="6" name="Table 0">
            <a:extLst>
              <a:ext uri="{FF2B5EF4-FFF2-40B4-BE49-F238E27FC236}">
                <a16:creationId xmlns:a16="http://schemas.microsoft.com/office/drawing/2014/main" id="{DB0217AF-0299-5D50-87C2-2DA95BCEBA3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29842930"/>
              </p:ext>
            </p:extLst>
          </p:nvPr>
        </p:nvGraphicFramePr>
        <p:xfrm>
          <a:off x="365760" y="960119"/>
          <a:ext cx="5029200" cy="1295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2534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Component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Part / Detail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534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90E0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MCU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CBD5E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STM32L432KC </a:t>
                      </a:r>
                      <a:r>
                        <a:rPr lang="en-US" sz="1100" dirty="0" err="1">
                          <a:solidFill>
                            <a:srgbClr val="CBD5E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Nucleo</a:t>
                      </a:r>
                      <a:r>
                        <a:rPr lang="en-US" sz="1100" dirty="0">
                          <a:solidFill>
                            <a:srgbClr val="CBD5E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-Board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534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90E0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RF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CBD5E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NRF24L01 (SPI)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2534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90E0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Shift Register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CBD5E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Garmin LIDAR Lite V3 — 40m range (I2C)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2534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90E0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CBD5E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LIS3DH Accelerometer (SPI)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pic>
        <p:nvPicPr>
          <p:cNvPr id="5" name="Picture 4">
            <a:extLst>
              <a:ext uri="{FF2B5EF4-FFF2-40B4-BE49-F238E27FC236}">
                <a16:creationId xmlns:a16="http://schemas.microsoft.com/office/drawing/2014/main" id="{47061406-5683-D5F6-8877-CC03DAABB4C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5400000">
            <a:off x="5701712" y="1399623"/>
            <a:ext cx="3516032" cy="26370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3413883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B2A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2771F1F-8847-7DDA-7A20-0FA167588A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539EAEDE-BC6B-69E2-F1C9-EDEFA055F9F1}"/>
              </a:ext>
            </a:extLst>
          </p:cNvPr>
          <p:cNvSpPr/>
          <p:nvPr/>
        </p:nvSpPr>
        <p:spPr>
          <a:xfrm>
            <a:off x="588682" y="256032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RC Car: Schematic</a:t>
            </a:r>
            <a:endParaRPr lang="en-US" sz="3200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8496CAF4-6604-1A7A-DE16-2CDF9A27BABC}"/>
              </a:ext>
            </a:extLst>
          </p:cNvPr>
          <p:cNvSpPr/>
          <p:nvPr/>
        </p:nvSpPr>
        <p:spPr>
          <a:xfrm>
            <a:off x="393192" y="256032"/>
            <a:ext cx="64008" cy="594360"/>
          </a:xfrm>
          <a:prstGeom prst="rect">
            <a:avLst/>
          </a:prstGeom>
          <a:solidFill>
            <a:srgbClr val="0077B6"/>
          </a:solidFill>
          <a:ln w="12700">
            <a:solidFill>
              <a:srgbClr val="0077B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0D77739-0501-2846-28D9-93B0ECB1B79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8682" y="886300"/>
            <a:ext cx="7920318" cy="41618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1704944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B2A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1F4F304-9CB9-0B08-3555-79C8419E35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79E78465-F81F-F798-BF07-3F76C9FC484C}"/>
              </a:ext>
            </a:extLst>
          </p:cNvPr>
          <p:cNvSpPr/>
          <p:nvPr/>
        </p:nvSpPr>
        <p:spPr>
          <a:xfrm>
            <a:off x="588682" y="256032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Transmitter: Schematic</a:t>
            </a:r>
            <a:endParaRPr lang="en-US" sz="3200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98EA99FB-DDDD-53CF-4E1E-180DEA782C3E}"/>
              </a:ext>
            </a:extLst>
          </p:cNvPr>
          <p:cNvSpPr/>
          <p:nvPr/>
        </p:nvSpPr>
        <p:spPr>
          <a:xfrm>
            <a:off x="393192" y="256032"/>
            <a:ext cx="64008" cy="594360"/>
          </a:xfrm>
          <a:prstGeom prst="rect">
            <a:avLst/>
          </a:prstGeom>
          <a:solidFill>
            <a:srgbClr val="0077B6"/>
          </a:solidFill>
          <a:ln w="12700">
            <a:solidFill>
              <a:srgbClr val="0077B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5A1D4342-B8AC-AE7C-149F-8CEBCB88DE4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62367" y="898837"/>
            <a:ext cx="6281745" cy="40295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1774809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88682" y="256032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RC Car: State Machine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393192" y="256032"/>
            <a:ext cx="64008" cy="594360"/>
          </a:xfrm>
          <a:prstGeom prst="rect">
            <a:avLst/>
          </a:prstGeom>
          <a:solidFill>
            <a:srgbClr val="0077B6"/>
          </a:solidFill>
          <a:ln w="12700">
            <a:solidFill>
              <a:srgbClr val="0077B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24" name="Picture 23">
            <a:extLst>
              <a:ext uri="{FF2B5EF4-FFF2-40B4-BE49-F238E27FC236}">
                <a16:creationId xmlns:a16="http://schemas.microsoft.com/office/drawing/2014/main" id="{1F0D22D1-9AB3-E97D-F84D-851E283C249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17653" y="14287"/>
            <a:ext cx="4326347" cy="5143500"/>
          </a:xfrm>
          <a:prstGeom prst="rect">
            <a:avLst/>
          </a:prstGeom>
        </p:spPr>
      </p:pic>
      <p:sp>
        <p:nvSpPr>
          <p:cNvPr id="25" name="Text 18">
            <a:extLst>
              <a:ext uri="{FF2B5EF4-FFF2-40B4-BE49-F238E27FC236}">
                <a16:creationId xmlns:a16="http://schemas.microsoft.com/office/drawing/2014/main" id="{302CAFBB-5E4C-123E-A3F6-76C08D8CE0C4}"/>
              </a:ext>
            </a:extLst>
          </p:cNvPr>
          <p:cNvSpPr/>
          <p:nvPr/>
        </p:nvSpPr>
        <p:spPr>
          <a:xfrm>
            <a:off x="820136" y="936768"/>
            <a:ext cx="1778374" cy="2852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77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LED Status Indicators</a:t>
            </a:r>
            <a:endParaRPr lang="en-US" sz="1200" dirty="0"/>
          </a:p>
        </p:txBody>
      </p:sp>
      <p:sp>
        <p:nvSpPr>
          <p:cNvPr id="28" name="Shape 21">
            <a:extLst>
              <a:ext uri="{FF2B5EF4-FFF2-40B4-BE49-F238E27FC236}">
                <a16:creationId xmlns:a16="http://schemas.microsoft.com/office/drawing/2014/main" id="{1D773B6B-2234-9A99-2B2F-DCC93BA5C4C5}"/>
              </a:ext>
            </a:extLst>
          </p:cNvPr>
          <p:cNvSpPr/>
          <p:nvPr/>
        </p:nvSpPr>
        <p:spPr>
          <a:xfrm>
            <a:off x="393192" y="1220433"/>
            <a:ext cx="201168" cy="201168"/>
          </a:xfrm>
          <a:prstGeom prst="ellipse">
            <a:avLst/>
          </a:prstGeom>
          <a:solidFill>
            <a:srgbClr val="FFD54F"/>
          </a:solidFill>
          <a:ln w="12700">
            <a:solidFill>
              <a:srgbClr val="FFD5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Text 22">
            <a:extLst>
              <a:ext uri="{FF2B5EF4-FFF2-40B4-BE49-F238E27FC236}">
                <a16:creationId xmlns:a16="http://schemas.microsoft.com/office/drawing/2014/main" id="{9D965F8B-7913-526E-621F-259C6EFA1D6A}"/>
              </a:ext>
            </a:extLst>
          </p:cNvPr>
          <p:cNvSpPr/>
          <p:nvPr/>
        </p:nvSpPr>
        <p:spPr>
          <a:xfrm>
            <a:off x="820136" y="1193001"/>
            <a:ext cx="213135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Yellow — TX mode</a:t>
            </a:r>
            <a:endParaRPr lang="en-US" sz="900" dirty="0"/>
          </a:p>
        </p:txBody>
      </p:sp>
      <p:sp>
        <p:nvSpPr>
          <p:cNvPr id="30" name="Shape 23">
            <a:extLst>
              <a:ext uri="{FF2B5EF4-FFF2-40B4-BE49-F238E27FC236}">
                <a16:creationId xmlns:a16="http://schemas.microsoft.com/office/drawing/2014/main" id="{3B6FAC69-D689-A9BE-CF06-6BCE8DF828B4}"/>
              </a:ext>
            </a:extLst>
          </p:cNvPr>
          <p:cNvSpPr/>
          <p:nvPr/>
        </p:nvSpPr>
        <p:spPr>
          <a:xfrm>
            <a:off x="393192" y="1513041"/>
            <a:ext cx="201168" cy="201168"/>
          </a:xfrm>
          <a:prstGeom prst="ellipse">
            <a:avLst/>
          </a:prstGeom>
          <a:solidFill>
            <a:srgbClr val="EF5350"/>
          </a:solidFill>
          <a:ln w="12700">
            <a:solidFill>
              <a:srgbClr val="EF535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Text 24">
            <a:extLst>
              <a:ext uri="{FF2B5EF4-FFF2-40B4-BE49-F238E27FC236}">
                <a16:creationId xmlns:a16="http://schemas.microsoft.com/office/drawing/2014/main" id="{C667EAF7-0020-A86C-04A5-6BD05A2A8D53}"/>
              </a:ext>
            </a:extLst>
          </p:cNvPr>
          <p:cNvSpPr/>
          <p:nvPr/>
        </p:nvSpPr>
        <p:spPr>
          <a:xfrm>
            <a:off x="820136" y="1485609"/>
            <a:ext cx="1899397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 — packet transmitted in RC Car</a:t>
            </a:r>
            <a:endParaRPr lang="en-US" sz="900" dirty="0"/>
          </a:p>
        </p:txBody>
      </p:sp>
      <p:sp>
        <p:nvSpPr>
          <p:cNvPr id="32" name="Shape 25">
            <a:extLst>
              <a:ext uri="{FF2B5EF4-FFF2-40B4-BE49-F238E27FC236}">
                <a16:creationId xmlns:a16="http://schemas.microsoft.com/office/drawing/2014/main" id="{1D1181A4-8D9B-E287-6688-277625C9D497}"/>
              </a:ext>
            </a:extLst>
          </p:cNvPr>
          <p:cNvSpPr/>
          <p:nvPr/>
        </p:nvSpPr>
        <p:spPr>
          <a:xfrm>
            <a:off x="393192" y="1805649"/>
            <a:ext cx="201168" cy="201168"/>
          </a:xfrm>
          <a:prstGeom prst="ellipse">
            <a:avLst/>
          </a:prstGeom>
          <a:solidFill>
            <a:srgbClr val="66BB6A"/>
          </a:solidFill>
          <a:ln w="12700">
            <a:solidFill>
              <a:srgbClr val="66BB6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Text 26">
            <a:extLst>
              <a:ext uri="{FF2B5EF4-FFF2-40B4-BE49-F238E27FC236}">
                <a16:creationId xmlns:a16="http://schemas.microsoft.com/office/drawing/2014/main" id="{DA428433-F206-9399-5428-4F48EA3DECD6}"/>
              </a:ext>
            </a:extLst>
          </p:cNvPr>
          <p:cNvSpPr/>
          <p:nvPr/>
        </p:nvSpPr>
        <p:spPr>
          <a:xfrm>
            <a:off x="820136" y="1755090"/>
            <a:ext cx="1899397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— RX mode 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Transmitter: State</a:t>
            </a:r>
          </a:p>
          <a:p>
            <a:pPr marL="0" indent="0" algn="l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Machine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272303" y="117662"/>
            <a:ext cx="64008" cy="860612"/>
          </a:xfrm>
          <a:prstGeom prst="rect">
            <a:avLst/>
          </a:prstGeom>
          <a:solidFill>
            <a:srgbClr val="0077B6"/>
          </a:solidFill>
          <a:ln w="12700">
            <a:solidFill>
              <a:srgbClr val="0077B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8"/>
          <p:cNvSpPr/>
          <p:nvPr/>
        </p:nvSpPr>
        <p:spPr>
          <a:xfrm>
            <a:off x="597941" y="1228328"/>
            <a:ext cx="1778374" cy="2852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77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LED Status Indicators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308830" y="1513544"/>
            <a:ext cx="201168" cy="201168"/>
          </a:xfrm>
          <a:prstGeom prst="ellipse">
            <a:avLst/>
          </a:prstGeom>
          <a:solidFill>
            <a:srgbClr val="4FC3F7"/>
          </a:solidFill>
          <a:ln w="12700">
            <a:solidFill>
              <a:srgbClr val="4FC3F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0"/>
          <p:cNvSpPr/>
          <p:nvPr/>
        </p:nvSpPr>
        <p:spPr>
          <a:xfrm>
            <a:off x="735774" y="1475019"/>
            <a:ext cx="25818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Blue — RX mode</a:t>
            </a:r>
            <a:endParaRPr lang="en-US" sz="900" dirty="0"/>
          </a:p>
        </p:txBody>
      </p:sp>
      <p:sp>
        <p:nvSpPr>
          <p:cNvPr id="24" name="Shape 21"/>
          <p:cNvSpPr/>
          <p:nvPr/>
        </p:nvSpPr>
        <p:spPr>
          <a:xfrm>
            <a:off x="308830" y="1806152"/>
            <a:ext cx="201168" cy="201168"/>
          </a:xfrm>
          <a:prstGeom prst="ellipse">
            <a:avLst/>
          </a:prstGeom>
          <a:solidFill>
            <a:srgbClr val="FFD54F"/>
          </a:solidFill>
          <a:ln w="12700">
            <a:solidFill>
              <a:srgbClr val="FFD5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2"/>
          <p:cNvSpPr/>
          <p:nvPr/>
        </p:nvSpPr>
        <p:spPr>
          <a:xfrm>
            <a:off x="735774" y="1778720"/>
            <a:ext cx="213135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Yellow — TX mode</a:t>
            </a:r>
            <a:endParaRPr lang="en-US" sz="900" dirty="0"/>
          </a:p>
        </p:txBody>
      </p:sp>
      <p:sp>
        <p:nvSpPr>
          <p:cNvPr id="26" name="Shape 23"/>
          <p:cNvSpPr/>
          <p:nvPr/>
        </p:nvSpPr>
        <p:spPr>
          <a:xfrm>
            <a:off x="308830" y="2098760"/>
            <a:ext cx="201168" cy="201168"/>
          </a:xfrm>
          <a:prstGeom prst="ellipse">
            <a:avLst/>
          </a:prstGeom>
          <a:solidFill>
            <a:srgbClr val="EF5350"/>
          </a:solidFill>
          <a:ln w="12700">
            <a:solidFill>
              <a:srgbClr val="EF535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4"/>
          <p:cNvSpPr/>
          <p:nvPr/>
        </p:nvSpPr>
        <p:spPr>
          <a:xfrm>
            <a:off x="735774" y="2071328"/>
            <a:ext cx="210782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 — packet received from RC Car</a:t>
            </a:r>
            <a:endParaRPr lang="en-US" sz="900" dirty="0"/>
          </a:p>
        </p:txBody>
      </p:sp>
      <p:sp>
        <p:nvSpPr>
          <p:cNvPr id="28" name="Shape 25"/>
          <p:cNvSpPr/>
          <p:nvPr/>
        </p:nvSpPr>
        <p:spPr>
          <a:xfrm>
            <a:off x="308830" y="2391368"/>
            <a:ext cx="201168" cy="201168"/>
          </a:xfrm>
          <a:prstGeom prst="ellipse">
            <a:avLst/>
          </a:prstGeom>
          <a:solidFill>
            <a:srgbClr val="66BB6A"/>
          </a:solidFill>
          <a:ln w="12700">
            <a:solidFill>
              <a:srgbClr val="66BB6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Text 26"/>
          <p:cNvSpPr/>
          <p:nvPr/>
        </p:nvSpPr>
        <p:spPr>
          <a:xfrm>
            <a:off x="735774" y="2340809"/>
            <a:ext cx="1899397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— command received from GUI</a:t>
            </a:r>
            <a:endParaRPr lang="en-US" sz="900" dirty="0"/>
          </a:p>
        </p:txBody>
      </p:sp>
      <p:pic>
        <p:nvPicPr>
          <p:cNvPr id="31" name="Picture 30">
            <a:extLst>
              <a:ext uri="{FF2B5EF4-FFF2-40B4-BE49-F238E27FC236}">
                <a16:creationId xmlns:a16="http://schemas.microsoft.com/office/drawing/2014/main" id="{1EFDF081-286B-A759-A4E6-DA5FD65A2A4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86942" y="1"/>
            <a:ext cx="4757058" cy="3576918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53328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GUI — Real-Time Data Acquisition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256032"/>
            <a:ext cx="64008" cy="594360"/>
          </a:xfrm>
          <a:prstGeom prst="rect">
            <a:avLst/>
          </a:prstGeom>
          <a:solidFill>
            <a:srgbClr val="0077B6"/>
          </a:solidFill>
          <a:ln w="12700">
            <a:solidFill>
              <a:srgbClr val="0077B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457200" y="100584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77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2011680" y="100584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Selects COM port, connects to STM32L432KC over UART at 115200 baud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1527048"/>
            <a:ext cx="4297680" cy="0"/>
          </a:xfrm>
          <a:prstGeom prst="line">
            <a:avLst/>
          </a:prstGeom>
          <a:noFill/>
          <a:ln w="635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457200" y="1664208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77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Motor Control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2011680" y="1664208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PWM slider (0–65535) with Forward / Backward / Disabled direction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57200" y="2185416"/>
            <a:ext cx="4297680" cy="0"/>
          </a:xfrm>
          <a:prstGeom prst="line">
            <a:avLst/>
          </a:prstGeom>
          <a:noFill/>
          <a:ln w="635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457200" y="2322576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77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Steering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2011680" y="2322576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QDial widget, range 50–100 (center=75), debounced 10ms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2843784"/>
            <a:ext cx="4297680" cy="0"/>
          </a:xfrm>
          <a:prstGeom prst="line">
            <a:avLst/>
          </a:prstGeom>
          <a:noFill/>
          <a:ln w="635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457200" y="2980944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77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Plots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2011680" y="2980944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Distance (cm), Acceleration (ax/ay/az in mg), Velocity (vx/vy/vz)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57200" y="3502152"/>
            <a:ext cx="4297680" cy="0"/>
          </a:xfrm>
          <a:prstGeom prst="line">
            <a:avLst/>
          </a:prstGeom>
          <a:noFill/>
          <a:ln w="635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457200" y="3639312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77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Calibration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2011680" y="3639312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Collects stationary IMU samples, computes per-axis offsets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0520"/>
            <a:ext cx="4297680" cy="0"/>
          </a:xfrm>
          <a:prstGeom prst="line">
            <a:avLst/>
          </a:prstGeom>
          <a:noFill/>
          <a:ln w="635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457200" y="429768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77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Export CSV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2011680" y="429768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Saves all data: time, distance, accel, velocity, PWM to file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457200" y="4818888"/>
            <a:ext cx="4297680" cy="0"/>
          </a:xfrm>
          <a:prstGeom prst="line">
            <a:avLst/>
          </a:prstGeom>
          <a:noFill/>
          <a:ln w="635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29" name="Picture 28">
            <a:extLst>
              <a:ext uri="{FF2B5EF4-FFF2-40B4-BE49-F238E27FC236}">
                <a16:creationId xmlns:a16="http://schemas.microsoft.com/office/drawing/2014/main" id="{8BBF7E98-C483-797A-A536-CB23B0CCCC7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25631" y="848644"/>
            <a:ext cx="4114968" cy="3450784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56032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Sensor Data &amp; Packet Format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256032"/>
            <a:ext cx="64008" cy="594360"/>
          </a:xfrm>
          <a:prstGeom prst="rect">
            <a:avLst/>
          </a:prstGeom>
          <a:solidFill>
            <a:srgbClr val="0077B6"/>
          </a:solidFill>
          <a:ln w="12700">
            <a:solidFill>
              <a:srgbClr val="0077B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flows from RC Car → Transmitter → Python GUI over two wireless hops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371600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77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 Telemetry Packet (5 fields, 32 bytes)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57200" y="1691640"/>
            <a:ext cx="8229600" cy="502920"/>
          </a:xfrm>
          <a:prstGeom prst="rect">
            <a:avLst/>
          </a:prstGeom>
          <a:solidFill>
            <a:srgbClr val="162030"/>
          </a:solidFill>
          <a:ln w="12700">
            <a:solidFill>
              <a:srgbClr val="0077B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457200" y="16916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90E0E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timestamp_ms , distance_cm , ax_mg , ay_mg , az_mg \n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57200" y="2331720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4A2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Calibration Packet (4 fields — CAL mode only)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57200" y="2651760"/>
            <a:ext cx="8229600" cy="502920"/>
          </a:xfrm>
          <a:prstGeom prst="rect">
            <a:avLst/>
          </a:prstGeom>
          <a:solidFill>
            <a:srgbClr val="162030"/>
          </a:solidFill>
          <a:ln w="12700">
            <a:solidFill>
              <a:srgbClr val="F4A2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457200" y="265176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F4A2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timestamp_ms , ax_mg , ay_mg , az_mg \n</a:t>
            </a:r>
            <a:endParaRPr lang="en-US" sz="14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24119218"/>
              </p:ext>
            </p:extLst>
          </p:nvPr>
        </p:nvGraphicFramePr>
        <p:xfrm>
          <a:off x="457200" y="3291840"/>
          <a:ext cx="8229600" cy="1810512"/>
        </p:xfrm>
        <a:graphic>
          <a:graphicData uri="http://schemas.openxmlformats.org/drawingml/2006/table">
            <a:tbl>
              <a:tblPr/>
              <a:tblGrid>
                <a:gridCol w="1828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486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017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Field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Unit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Description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90E0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timestamp_ms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CBD5E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CBD5E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Time since MCU boot unless reset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90E0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distance_cm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CBD5E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CBD5E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LIDAR distance to object ahead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90E0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ax_mg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CBD5E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CBD5E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X-axis acceleration 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90E0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ay_mg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CBD5E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CBD5E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Y-axis acceleration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90E0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az_mg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CBD5E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CBD5E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Z-axis acceleration (~1000mg = ~1g stationary)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00407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Velocity Estimation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256032"/>
            <a:ext cx="64008" cy="594360"/>
          </a:xfrm>
          <a:prstGeom prst="rect">
            <a:avLst/>
          </a:prstGeom>
          <a:solidFill>
            <a:srgbClr val="0077B6"/>
          </a:solidFill>
          <a:ln w="12700">
            <a:solidFill>
              <a:srgbClr val="0077B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077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Euler Method of Numerical Integration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618228" y="1280160"/>
            <a:ext cx="818623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90E0E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v(t)  =  v(t−1)  +  a(t) × Δt        where  a [mg] × 0.001 × 9.81 → m/s²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640080" y="21488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4A2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Known Limitations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40080" y="2514600"/>
            <a:ext cx="402336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Integration drift — noise accumulates over time causing velocity to grow even when stationary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Stop detection — integrator has no initial condition to reset when car stops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Gravitational Influence — RC Car tilt causes ax to feel a component of Earth's gravity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846320" y="2148840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Calibration Mitigation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846320" y="2514600"/>
            <a:ext cx="393192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Stationary IMU samples collected before run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Average offset computed per axis (ax, ay, az)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Offset removed from all measurements before integration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Reduces gravitational bias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57200" y="3977640"/>
            <a:ext cx="4023360" cy="822960"/>
          </a:xfrm>
          <a:prstGeom prst="rect">
            <a:avLst/>
          </a:prstGeom>
          <a:solidFill>
            <a:srgbClr val="162030"/>
          </a:solidFill>
          <a:ln w="1270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457200" y="4160520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 NoCalibrationWF.png ]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663440" y="3977640"/>
            <a:ext cx="4023360" cy="822960"/>
          </a:xfrm>
          <a:prstGeom prst="rect">
            <a:avLst/>
          </a:prstGeom>
          <a:solidFill>
            <a:srgbClr val="162030"/>
          </a:solidFill>
          <a:ln w="1270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4663440" y="4160520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 CalibrationWF.png ]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B2A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0EF1631-15C1-E3CE-711C-5F691FD55F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5BE12AC6-C065-19E3-8350-716EDC4B5CED}"/>
              </a:ext>
            </a:extLst>
          </p:cNvPr>
          <p:cNvSpPr/>
          <p:nvPr/>
        </p:nvSpPr>
        <p:spPr>
          <a:xfrm>
            <a:off x="640080" y="50426"/>
            <a:ext cx="8229600" cy="153632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Measurement </a:t>
            </a:r>
          </a:p>
          <a:p>
            <a:pPr marL="0" indent="0" algn="l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 </a:t>
            </a:r>
          </a:p>
          <a:p>
            <a:pPr marL="0" indent="0" algn="l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Calibration</a:t>
            </a:r>
            <a:endParaRPr lang="en-US" sz="3200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123F186E-AE46-914F-1E4C-5DB9B749E5D6}"/>
              </a:ext>
            </a:extLst>
          </p:cNvPr>
          <p:cNvSpPr/>
          <p:nvPr/>
        </p:nvSpPr>
        <p:spPr>
          <a:xfrm>
            <a:off x="301752" y="198344"/>
            <a:ext cx="64008" cy="1257300"/>
          </a:xfrm>
          <a:prstGeom prst="rect">
            <a:avLst/>
          </a:prstGeom>
          <a:solidFill>
            <a:srgbClr val="0077B6"/>
          </a:solidFill>
          <a:ln w="12700">
            <a:solidFill>
              <a:srgbClr val="0077B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1EBF9DCC-8852-5E5E-6E70-8C127E81251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04446" y="0"/>
            <a:ext cx="4939553" cy="4165780"/>
          </a:xfrm>
          <a:prstGeom prst="rect">
            <a:avLst/>
          </a:prstGeom>
        </p:spPr>
      </p:pic>
      <p:sp>
        <p:nvSpPr>
          <p:cNvPr id="6" name="TextBox 5">
            <a:hlinkClick r:id="rId4"/>
            <a:extLst>
              <a:ext uri="{FF2B5EF4-FFF2-40B4-BE49-F238E27FC236}">
                <a16:creationId xmlns:a16="http://schemas.microsoft.com/office/drawing/2014/main" id="{FAA3D552-ADBB-04E1-BB15-7E898970C135}"/>
              </a:ext>
            </a:extLst>
          </p:cNvPr>
          <p:cNvSpPr txBox="1"/>
          <p:nvPr/>
        </p:nvSpPr>
        <p:spPr>
          <a:xfrm>
            <a:off x="397435" y="2159604"/>
            <a:ext cx="457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chemeClr val="bg2"/>
                </a:solidFill>
              </a:rPr>
              <a:t>https://youtu.be/ox59gKyVjFU</a:t>
            </a:r>
          </a:p>
        </p:txBody>
      </p:sp>
    </p:spTree>
    <p:extLst>
      <p:ext uri="{BB962C8B-B14F-4D97-AF65-F5344CB8AC3E}">
        <p14:creationId xmlns:p14="http://schemas.microsoft.com/office/powerpoint/2010/main" val="291631593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B2A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E48AC9C-6B32-55F4-4533-957C13CA80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0571B56C-5386-FA2B-9A5F-E67C4A8CC45A}"/>
              </a:ext>
            </a:extLst>
          </p:cNvPr>
          <p:cNvSpPr/>
          <p:nvPr/>
        </p:nvSpPr>
        <p:spPr>
          <a:xfrm>
            <a:off x="589654" y="237070"/>
            <a:ext cx="8229600" cy="13065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Measurement </a:t>
            </a:r>
          </a:p>
          <a:p>
            <a:pPr marL="0" indent="0" algn="l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</a:t>
            </a:r>
          </a:p>
          <a:p>
            <a:pPr marL="0" indent="0" algn="l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Calibration</a:t>
            </a:r>
            <a:endParaRPr lang="en-US" sz="3200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2CBDE035-61E9-5C86-E10F-23DF5F26635F}"/>
              </a:ext>
            </a:extLst>
          </p:cNvPr>
          <p:cNvSpPr/>
          <p:nvPr/>
        </p:nvSpPr>
        <p:spPr>
          <a:xfrm>
            <a:off x="423582" y="271763"/>
            <a:ext cx="64008" cy="1237129"/>
          </a:xfrm>
          <a:prstGeom prst="rect">
            <a:avLst/>
          </a:prstGeom>
          <a:solidFill>
            <a:srgbClr val="0077B6"/>
          </a:solidFill>
          <a:ln w="12700">
            <a:solidFill>
              <a:srgbClr val="0077B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1AFCFC3-500A-186D-EE9D-37EB9AACA26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31764" y="0"/>
            <a:ext cx="4512235" cy="3783930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4FEEE109-94EC-8302-3F99-2E98667F6ACF}"/>
              </a:ext>
            </a:extLst>
          </p:cNvPr>
          <p:cNvSpPr txBox="1"/>
          <p:nvPr/>
        </p:nvSpPr>
        <p:spPr>
          <a:xfrm>
            <a:off x="423582" y="2386710"/>
            <a:ext cx="457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chemeClr val="bg2"/>
                </a:solidFill>
                <a:hlinkClick r:id="rId4"/>
              </a:rPr>
              <a:t>https://youtu.be/ydO1_pEh5iw</a:t>
            </a:r>
            <a:endParaRPr lang="en-US" dirty="0">
              <a:solidFill>
                <a:schemeClr val="bg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11148391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88309" y="256032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Challenges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256032"/>
            <a:ext cx="64008" cy="594360"/>
          </a:xfrm>
          <a:prstGeom prst="rect">
            <a:avLst/>
          </a:prstGeom>
          <a:solidFill>
            <a:srgbClr val="0077B6"/>
          </a:solidFill>
          <a:ln w="12700">
            <a:solidFill>
              <a:srgbClr val="0077B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365760" y="1005840"/>
            <a:ext cx="4206240" cy="1783080"/>
          </a:xfrm>
          <a:prstGeom prst="rect">
            <a:avLst/>
          </a:prstGeom>
          <a:solidFill>
            <a:srgbClr val="162030"/>
          </a:solidFill>
          <a:ln w="25400">
            <a:solidFill>
              <a:srgbClr val="F4A261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502920" y="1097280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4A2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Acquisition Gap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02920" y="1444752"/>
            <a:ext cx="3931920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NRF24L01 socket loosened after crash → intermittent 1–1.4s communication blackouts for a second and reconnects. </a:t>
            </a:r>
            <a:endParaRPr lang="en-US" sz="1050" dirty="0"/>
          </a:p>
          <a:p>
            <a:pPr marL="0" indent="0">
              <a:buNone/>
            </a:pP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Fix: Enclosure, direct solder for NRF24L01 RF Module.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4760259" y="999116"/>
            <a:ext cx="4206240" cy="1783080"/>
          </a:xfrm>
          <a:prstGeom prst="rect">
            <a:avLst/>
          </a:prstGeom>
          <a:solidFill>
            <a:srgbClr val="162030"/>
          </a:solidFill>
          <a:ln w="25400">
            <a:solidFill>
              <a:srgbClr val="00B4D8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4897419" y="1090556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Velocity Integration Drift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4897419" y="1438028"/>
            <a:ext cx="3931920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Euler integration of noisy accelerometer data causes velocity to drift even when stationary. Tilt adds gravitational component to ax.</a:t>
            </a:r>
            <a:endParaRPr lang="en-US" sz="1050" dirty="0"/>
          </a:p>
          <a:p>
            <a:pPr marL="0" indent="0">
              <a:buNone/>
            </a:pP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Fix: Calibration offset subtraction. Full solution requires sensor fusion (Hall effect + Kalman filter).</a:t>
            </a:r>
            <a:endParaRPr lang="en-US" sz="10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2267" y="255629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 Works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256032"/>
            <a:ext cx="64008" cy="594360"/>
          </a:xfrm>
          <a:prstGeom prst="rect">
            <a:avLst/>
          </a:prstGeom>
          <a:solidFill>
            <a:srgbClr val="0077B6"/>
          </a:solidFill>
          <a:ln w="12700">
            <a:solidFill>
              <a:srgbClr val="0077B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365760" y="1005840"/>
            <a:ext cx="2651760" cy="1417320"/>
          </a:xfrm>
          <a:prstGeom prst="rect">
            <a:avLst/>
          </a:prstGeom>
          <a:solidFill>
            <a:srgbClr val="162030"/>
          </a:solidFill>
          <a:ln w="19050">
            <a:solidFill>
              <a:srgbClr val="0077B6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475488" y="1097280"/>
            <a:ext cx="24323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77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 PID Controller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75488" y="1417320"/>
            <a:ext cx="2432304" cy="9052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 closed-loop speed control using the velocity estimate. Tune Kp, Ki, Kd on the RC Car and validate against LIDAR distance feedback.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163824" y="1005840"/>
            <a:ext cx="2651760" cy="1417320"/>
          </a:xfrm>
          <a:prstGeom prst="rect">
            <a:avLst/>
          </a:prstGeom>
          <a:solidFill>
            <a:srgbClr val="162030"/>
          </a:solidFill>
          <a:ln w="19050">
            <a:solidFill>
              <a:srgbClr val="F4A261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3273552" y="1097280"/>
            <a:ext cx="24323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4A2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 Kalman Filter + Sensor Fusion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3273552" y="1417320"/>
            <a:ext cx="2432304" cy="9052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Combine accelerometer (predictor) with Hall effect wheel speed sensor (observer) to correct integration drift. Foundation at kalmanfilter.net.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5961888" y="1005840"/>
            <a:ext cx="2651760" cy="1417320"/>
          </a:xfrm>
          <a:prstGeom prst="rect">
            <a:avLst/>
          </a:prstGeom>
          <a:solidFill>
            <a:srgbClr val="162030"/>
          </a:solidFill>
          <a:ln w="19050">
            <a:solidFill>
              <a:srgbClr val="6C63FF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6071616" y="1097280"/>
            <a:ext cx="24323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6C63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 Hall Effect Velocity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6071616" y="1417320"/>
            <a:ext cx="2432304" cy="9052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Mount A1133 Hall effect sensor near wheel hub with a magnet. Measure pulse intervals to compute precise linear velocity — eliminates drift.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65760" y="2569464"/>
            <a:ext cx="2651760" cy="1417320"/>
          </a:xfrm>
          <a:prstGeom prst="rect">
            <a:avLst/>
          </a:prstGeom>
          <a:solidFill>
            <a:srgbClr val="162030"/>
          </a:solidFill>
          <a:ln w="19050">
            <a:solidFill>
              <a:srgbClr val="00B4D8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475488" y="2660904"/>
            <a:ext cx="24323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 Savitzky-Golay Filter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75488" y="2980944"/>
            <a:ext cx="2432304" cy="9052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Apply polynomial smoothing over a sliding window to clean accelerometer noise without introducing the lag of a simple moving average.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3163824" y="2569464"/>
            <a:ext cx="2651760" cy="1417320"/>
          </a:xfrm>
          <a:prstGeom prst="rect">
            <a:avLst/>
          </a:prstGeom>
          <a:solidFill>
            <a:srgbClr val="162030"/>
          </a:solidFill>
          <a:ln w="19050">
            <a:solidFill>
              <a:srgbClr val="90E0EF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3273552" y="2660904"/>
            <a:ext cx="24323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90E0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 RTOS Implementation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3273552" y="2980944"/>
            <a:ext cx="2432304" cy="9052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 RTOS to sample more data on the sensor such as accelerometer to remove most of the noise.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61888" y="2569464"/>
            <a:ext cx="2651760" cy="1417320"/>
          </a:xfrm>
          <a:prstGeom prst="rect">
            <a:avLst/>
          </a:prstGeom>
          <a:solidFill>
            <a:srgbClr val="162030"/>
          </a:solidFill>
          <a:ln w="19050">
            <a:solidFill>
              <a:srgbClr val="F4A261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6071616" y="2660904"/>
            <a:ext cx="24323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4A2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 Adaptive Cruise Control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6071616" y="2980944"/>
            <a:ext cx="2432304" cy="9052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Combine PID speed control + LIDAR distance feedback to automatically maintain following distance and stop for stationary objects.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077B6"/>
          </a:solidFill>
          <a:ln w="12700">
            <a:solidFill>
              <a:srgbClr val="0077B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45720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457200" y="118872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77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was built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fully functional RC Car system with real-time wireless telemetry, bidirectional control, live data plotting, and accelerometer calibration.</a:t>
            </a:r>
            <a:endParaRPr lang="en-US" sz="1300" dirty="0"/>
          </a:p>
          <a:p>
            <a:pPr marL="0" indent="0">
              <a:buNone/>
            </a:pPr>
            <a:endParaRPr lang="en-US" sz="1300" dirty="0"/>
          </a:p>
          <a:p>
            <a:pPr marL="0" indent="0">
              <a:buNone/>
            </a:pPr>
            <a:r>
              <a:rPr lang="en-US" sz="1300" b="1" dirty="0">
                <a:solidFill>
                  <a:srgbClr val="0077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was learned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Embedded state machine design, ISR-driven timing, I2C/SPI sensor integration, NRF24L01 radio synchronization, PyQt5 threading, and the practical limits of accelerometer-based velocity estimation.</a:t>
            </a:r>
            <a:endParaRPr lang="en-US" sz="1300" dirty="0"/>
          </a:p>
          <a:p>
            <a:pPr marL="0" indent="0">
              <a:buNone/>
            </a:pPr>
            <a:endParaRPr lang="en-US" sz="1300" dirty="0"/>
          </a:p>
          <a:p>
            <a:pPr marL="0" indent="0">
              <a:buNone/>
            </a:pPr>
            <a:r>
              <a:rPr lang="en-US" sz="1300" b="1" dirty="0">
                <a:solidFill>
                  <a:srgbClr val="0077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comes next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PID speed controller, Kalman filter sensor fusion with Hall effect velocity, custom PCB, and full Adaptive Cruise Control.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274320" y="4773168"/>
            <a:ext cx="8595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RC Car Mark I  |  Master of Electrical Engineering  |  Erickson Mijangos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B2A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6672B13-4C24-C692-EF31-035C3406F6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2E1C4598-C498-8649-B6B7-97E67EC80A5D}"/>
              </a:ext>
            </a:extLst>
          </p:cNvPr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077B6"/>
          </a:solidFill>
          <a:ln w="12700">
            <a:solidFill>
              <a:srgbClr val="0077B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B5DD4473-34BA-4E3A-72BC-C44CB86C1696}"/>
              </a:ext>
            </a:extLst>
          </p:cNvPr>
          <p:cNvSpPr/>
          <p:nvPr/>
        </p:nvSpPr>
        <p:spPr>
          <a:xfrm>
            <a:off x="457200" y="45720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</a:t>
            </a: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RC Car Mark I</a:t>
            </a:r>
            <a:endParaRPr lang="en-US" sz="360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FF17EBEE-7C44-69D9-202B-69BA2AF318F6}"/>
              </a:ext>
            </a:extLst>
          </p:cNvPr>
          <p:cNvSpPr/>
          <p:nvPr/>
        </p:nvSpPr>
        <p:spPr>
          <a:xfrm>
            <a:off x="457200" y="1188720"/>
            <a:ext cx="8229600" cy="4817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600" dirty="0">
                <a:solidFill>
                  <a:schemeClr val="bg2"/>
                </a:solidFill>
                <a:hlinkClick r:id="rId3"/>
              </a:rPr>
              <a:t>https://github.com/eam95/RC_Car_Mark_I/tree/main</a:t>
            </a:r>
            <a:endParaRPr lang="en-US" sz="1600" dirty="0">
              <a:solidFill>
                <a:schemeClr val="bg2"/>
              </a:solidFill>
            </a:endParaRPr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173D904B-9510-A904-DDD7-694614D5117C}"/>
              </a:ext>
            </a:extLst>
          </p:cNvPr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B5798ABA-31EA-FBA0-3D24-F13A48F19520}"/>
              </a:ext>
            </a:extLst>
          </p:cNvPr>
          <p:cNvSpPr/>
          <p:nvPr/>
        </p:nvSpPr>
        <p:spPr>
          <a:xfrm>
            <a:off x="274320" y="4773168"/>
            <a:ext cx="8595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RC Car Mark I  |  Master of Electrical Engineering  |  Erickson Mijangos</a:t>
            </a:r>
            <a:endParaRPr lang="en-US" sz="1100" dirty="0"/>
          </a:p>
        </p:txBody>
      </p:sp>
    </p:spTree>
    <p:extLst>
      <p:ext uri="{BB962C8B-B14F-4D97-AF65-F5344CB8AC3E}">
        <p14:creationId xmlns:p14="http://schemas.microsoft.com/office/powerpoint/2010/main" val="195918947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104</TotalTime>
  <Words>1185</Words>
  <Application>Microsoft Office PowerPoint</Application>
  <PresentationFormat>On-screen Show (16:9)</PresentationFormat>
  <Paragraphs>213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3" baseType="lpstr">
      <vt:lpstr>Arial</vt:lpstr>
      <vt:lpstr>Calibri</vt:lpstr>
      <vt:lpstr>Consolas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RC Car Mark I — Adaptive Cruise Control</dc:title>
  <dc:subject>PptxGenJS Presentation</dc:subject>
  <dc:creator>Erickson Mijangos</dc:creator>
  <cp:lastModifiedBy>Erickson Mijangos</cp:lastModifiedBy>
  <cp:revision>6</cp:revision>
  <dcterms:created xsi:type="dcterms:W3CDTF">2026-05-07T13:46:53Z</dcterms:created>
  <dcterms:modified xsi:type="dcterms:W3CDTF">2026-05-11T02:00:51Z</dcterms:modified>
</cp:coreProperties>
</file>