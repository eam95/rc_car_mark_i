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1"/>
  </p:notesMasterIdLst>
  <p:sldIdLst>
    <p:sldId id="266" r:id="rId5"/>
    <p:sldId id="257" r:id="rId6"/>
    <p:sldId id="270" r:id="rId7"/>
    <p:sldId id="267" r:id="rId8"/>
    <p:sldId id="281" r:id="rId9"/>
    <p:sldId id="269" r:id="rId10"/>
    <p:sldId id="276" r:id="rId11"/>
    <p:sldId id="277" r:id="rId12"/>
    <p:sldId id="278" r:id="rId13"/>
    <p:sldId id="279" r:id="rId14"/>
    <p:sldId id="280" r:id="rId15"/>
    <p:sldId id="271" r:id="rId16"/>
    <p:sldId id="275"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1" autoAdjust="0"/>
    <p:restoredTop sz="94660"/>
  </p:normalViewPr>
  <p:slideViewPr>
    <p:cSldViewPr snapToGrid="0">
      <p:cViewPr>
        <p:scale>
          <a:sx n="97" d="100"/>
          <a:sy n="97" d="100"/>
        </p:scale>
        <p:origin x="55" y="120"/>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FF870C-5D9B-4878-9827-A3D8F8D3B4C3}"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2FA40C6-C0ED-46A3-92CE-B081053B2BA8}" type="pres">
      <dgm:prSet presAssocID="{34FF870C-5D9B-4878-9827-A3D8F8D3B4C3}" presName="root" presStyleCnt="0">
        <dgm:presLayoutVars>
          <dgm:dir/>
          <dgm:resizeHandles val="exact"/>
        </dgm:presLayoutVars>
      </dgm:prSet>
      <dgm:spPr/>
    </dgm:pt>
  </dgm:ptLst>
  <dgm:cxnLst>
    <dgm:cxn modelId="{B126511F-11FF-4EDD-85D7-D89737033340}" type="presOf" srcId="{34FF870C-5D9B-4878-9827-A3D8F8D3B4C3}" destId="{D2FA40C6-C0ED-46A3-92CE-B081053B2BA8}" srcOrd="0"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81C89-AC0D-4BFF-9223-D3157C1DDC5B}" type="datetimeFigureOut">
              <a:rPr lang="en-US" smtClean="0"/>
              <a:t>12/19/2020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33D7A2-C585-48BF-BF8C-C21FDC051F77}" type="slidenum">
              <a:rPr lang="en-US" smtClean="0"/>
              <a:t>‹#›</a:t>
            </a:fld>
            <a:endParaRPr lang="en-US" dirty="0"/>
          </a:p>
        </p:txBody>
      </p:sp>
    </p:spTree>
    <p:extLst>
      <p:ext uri="{BB962C8B-B14F-4D97-AF65-F5344CB8AC3E}">
        <p14:creationId xmlns:p14="http://schemas.microsoft.com/office/powerpoint/2010/main" val="1372662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3A52079-6997-47B8-B262-4ED5D2EA2D74}" type="datetime1">
              <a:rPr lang="en-US" smtClean="0"/>
              <a:t>12/19/2020</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12/19/2020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5238998-10EA-455D-8FDC-3EBC7E198582}" type="datetime1">
              <a:rPr lang="en-US" smtClean="0"/>
              <a:t>12/19/2020</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A4E9B6-2EC2-45E6-A437-DCC674AAC4AF}" type="datetime1">
              <a:rPr lang="en-US" smtClean="0"/>
              <a:t>12/19/2020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2D4FF3-940D-4DDE-86D8-82D5A8663636}" type="datetime1">
              <a:rPr lang="en-US" smtClean="0"/>
              <a:t>12/19/2020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955261-7117-41BB-BB79-8C1909625493}" type="datetime1">
              <a:rPr lang="en-US" smtClean="0"/>
              <a:t>12/19/2020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E204D7-DE7F-414C-8571-0012DE9EFCDB}" type="datetime1">
              <a:rPr lang="en-US" smtClean="0"/>
              <a:t>12/19/2020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E378FF3-85EA-48E5-8D8C-1DB156807E49}" type="datetime1">
              <a:rPr lang="en-US" smtClean="0"/>
              <a:t>12/19/2020</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3F94F13-1676-4B68-A383-661B657F6E63}" type="datetime1">
              <a:rPr lang="en-US" smtClean="0"/>
              <a:t>12/19/2020</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AC80CA-06EA-4D97-A1EC-F2A229B592C4}" type="datetime1">
              <a:rPr lang="en-US" smtClean="0"/>
              <a:t>12/19/2020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A60CC4-6CA2-4A99-B83B-711E420D000E}" type="datetime1">
              <a:rPr lang="en-US" smtClean="0"/>
              <a:t>12/19/2020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CB83234-995D-4149-8E1E-BC120E9070D5}" type="datetime1">
              <a:rPr lang="en-US" smtClean="0"/>
              <a:t>12/19/2020</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56C94072-1B34-48FB-9A9C-5A9A0FFC8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descr="extreme close up of line chart graphic">
            <a:extLst>
              <a:ext uri="{FF2B5EF4-FFF2-40B4-BE49-F238E27FC236}">
                <a16:creationId xmlns:a16="http://schemas.microsoft.com/office/drawing/2014/main" id="{B38A25AE-7B44-4EC1-BC0C-CF0FFF036705}"/>
              </a:ext>
            </a:extLst>
          </p:cNvPr>
          <p:cNvPicPr>
            <a:picLocks noChangeAspect="1"/>
          </p:cNvPicPr>
          <p:nvPr/>
        </p:nvPicPr>
        <p:blipFill rotWithShape="1">
          <a:blip r:embed="rId2"/>
          <a:srcRect t="10000"/>
          <a:stretch/>
        </p:blipFill>
        <p:spPr>
          <a:xfrm>
            <a:off x="20" y="10"/>
            <a:ext cx="12191980" cy="6857990"/>
          </a:xfrm>
          <a:prstGeom prst="rect">
            <a:avLst/>
          </a:prstGeom>
        </p:spPr>
      </p:pic>
      <p:sp>
        <p:nvSpPr>
          <p:cNvPr id="52" name="Freeform: Shape 51">
            <a:extLst>
              <a:ext uri="{FF2B5EF4-FFF2-40B4-BE49-F238E27FC236}">
                <a16:creationId xmlns:a16="http://schemas.microsoft.com/office/drawing/2014/main" id="{A5019358-4900-4555-99FF-EF6AE90B8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70146" y="3710250"/>
            <a:ext cx="2131466" cy="1830903"/>
          </a:xfrm>
          <a:custGeom>
            <a:avLst/>
            <a:gdLst>
              <a:gd name="connsiteX0" fmla="*/ 2308583 w 2308583"/>
              <a:gd name="connsiteY0" fmla="*/ 1983044 h 1983044"/>
              <a:gd name="connsiteX1" fmla="*/ 462 w 2308583"/>
              <a:gd name="connsiteY1" fmla="*/ 1983044 h 1983044"/>
              <a:gd name="connsiteX2" fmla="*/ 0 w 2308583"/>
              <a:gd name="connsiteY2" fmla="*/ 1711185 h 1983044"/>
              <a:gd name="connsiteX3" fmla="*/ 2022607 w 2308583"/>
              <a:gd name="connsiteY3" fmla="*/ 1712117 h 1983044"/>
              <a:gd name="connsiteX4" fmla="*/ 2022607 w 2308583"/>
              <a:gd name="connsiteY4" fmla="*/ 0 h 1983044"/>
              <a:gd name="connsiteX5" fmla="*/ 2308583 w 2308583"/>
              <a:gd name="connsiteY5" fmla="*/ 0 h 198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8583" h="1983044">
                <a:moveTo>
                  <a:pt x="2308583" y="1983044"/>
                </a:moveTo>
                <a:lnTo>
                  <a:pt x="462" y="1983044"/>
                </a:lnTo>
                <a:cubicBezTo>
                  <a:pt x="-462" y="1889214"/>
                  <a:pt x="923" y="1805015"/>
                  <a:pt x="0" y="1711185"/>
                </a:cubicBezTo>
                <a:lnTo>
                  <a:pt x="2022607" y="1712117"/>
                </a:lnTo>
                <a:lnTo>
                  <a:pt x="2022607" y="0"/>
                </a:lnTo>
                <a:lnTo>
                  <a:pt x="2308583" y="0"/>
                </a:lnTo>
                <a:close/>
              </a:path>
            </a:pathLst>
          </a:custGeom>
          <a:solidFill>
            <a:srgbClr val="FFFFFF">
              <a:alpha val="70000"/>
            </a:srgbClr>
          </a:solidFill>
          <a:ln w="0">
            <a:noFill/>
            <a:prstDash val="solid"/>
            <a:round/>
            <a:headEnd/>
            <a:tailEnd/>
          </a:ln>
        </p:spPr>
      </p:sp>
      <p:sp>
        <p:nvSpPr>
          <p:cNvPr id="50" name="Rectangle 49">
            <a:extLst>
              <a:ext uri="{FF2B5EF4-FFF2-40B4-BE49-F238E27FC236}">
                <a16:creationId xmlns:a16="http://schemas.microsoft.com/office/drawing/2014/main" id="{1D5941F3-0256-4E90-BBBC-5A6EDEB8E0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8004" y="4166755"/>
            <a:ext cx="5607908" cy="2040066"/>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347C47-EF1D-4B02-906B-219155AD8D0F}"/>
              </a:ext>
            </a:extLst>
          </p:cNvPr>
          <p:cNvSpPr>
            <a:spLocks noGrp="1"/>
          </p:cNvSpPr>
          <p:nvPr>
            <p:ph type="ctrTitle"/>
          </p:nvPr>
        </p:nvSpPr>
        <p:spPr>
          <a:xfrm>
            <a:off x="6298010" y="4333010"/>
            <a:ext cx="5652252" cy="629188"/>
          </a:xfrm>
        </p:spPr>
        <p:txBody>
          <a:bodyPr>
            <a:normAutofit fontScale="90000"/>
          </a:bodyPr>
          <a:lstStyle/>
          <a:p>
            <a:pPr algn="l"/>
            <a:r>
              <a:rPr lang="en-US" sz="3600" dirty="0">
                <a:solidFill>
                  <a:srgbClr val="FFFFFF"/>
                </a:solidFill>
                <a:latin typeface="Century Gothic" panose="020B0502020202020204" pitchFamily="34" charset="0"/>
              </a:rPr>
              <a:t>Adaptive cruise control</a:t>
            </a:r>
          </a:p>
        </p:txBody>
      </p:sp>
      <p:sp>
        <p:nvSpPr>
          <p:cNvPr id="3" name="Subtitle 2">
            <a:extLst>
              <a:ext uri="{FF2B5EF4-FFF2-40B4-BE49-F238E27FC236}">
                <a16:creationId xmlns:a16="http://schemas.microsoft.com/office/drawing/2014/main" id="{36A0527F-C5FD-4E9B-9F21-5D1FBA31314B}"/>
              </a:ext>
            </a:extLst>
          </p:cNvPr>
          <p:cNvSpPr>
            <a:spLocks noGrp="1"/>
          </p:cNvSpPr>
          <p:nvPr>
            <p:ph type="subTitle" idx="1"/>
          </p:nvPr>
        </p:nvSpPr>
        <p:spPr>
          <a:xfrm>
            <a:off x="6307869" y="4910520"/>
            <a:ext cx="5268177" cy="859371"/>
          </a:xfrm>
        </p:spPr>
        <p:txBody>
          <a:bodyPr>
            <a:normAutofit fontScale="92500"/>
          </a:bodyPr>
          <a:lstStyle/>
          <a:p>
            <a:pPr algn="l">
              <a:spcAft>
                <a:spcPts val="600"/>
              </a:spcAft>
            </a:pPr>
            <a:r>
              <a:rPr lang="en-US" sz="1800" u="sng" dirty="0">
                <a:solidFill>
                  <a:srgbClr val="FFFFFF"/>
                </a:solidFill>
                <a:latin typeface="Century Gothic" panose="020B0502020202020204" pitchFamily="34" charset="0"/>
              </a:rPr>
              <a:t>Team Members</a:t>
            </a:r>
            <a:r>
              <a:rPr lang="en-US" sz="1800" dirty="0">
                <a:solidFill>
                  <a:srgbClr val="FFFFFF"/>
                </a:solidFill>
                <a:latin typeface="Century Gothic" panose="020B0502020202020204" pitchFamily="34" charset="0"/>
              </a:rPr>
              <a:t>:</a:t>
            </a:r>
          </a:p>
          <a:p>
            <a:pPr algn="l">
              <a:spcAft>
                <a:spcPts val="600"/>
              </a:spcAft>
            </a:pPr>
            <a:r>
              <a:rPr lang="en-US" sz="1800" dirty="0">
                <a:solidFill>
                  <a:srgbClr val="FFFFFF"/>
                </a:solidFill>
                <a:latin typeface="Century Gothic" panose="020B0502020202020204" pitchFamily="34" charset="0"/>
              </a:rPr>
              <a:t>Dave Contreras, Israel Mejia, Erickson </a:t>
            </a:r>
            <a:r>
              <a:rPr lang="en-US" sz="1800" dirty="0" err="1">
                <a:solidFill>
                  <a:srgbClr val="FFFFFF"/>
                </a:solidFill>
                <a:latin typeface="Century Gothic" panose="020B0502020202020204" pitchFamily="34" charset="0"/>
              </a:rPr>
              <a:t>Mijangos</a:t>
            </a:r>
            <a:endParaRPr lang="en-US" sz="1800" dirty="0">
              <a:solidFill>
                <a:srgbClr val="FFFFFF"/>
              </a:solidFill>
              <a:latin typeface="Century Gothic" panose="020B0502020202020204" pitchFamily="34" charset="0"/>
            </a:endParaRPr>
          </a:p>
          <a:p>
            <a:pPr algn="l">
              <a:spcAft>
                <a:spcPts val="600"/>
              </a:spcAft>
            </a:pPr>
            <a:endParaRPr lang="en-US" sz="1800" dirty="0">
              <a:solidFill>
                <a:srgbClr val="FFFFFF"/>
              </a:solidFill>
            </a:endParaRPr>
          </a:p>
        </p:txBody>
      </p:sp>
      <p:pic>
        <p:nvPicPr>
          <p:cNvPr id="5" name="Picture 4">
            <a:extLst>
              <a:ext uri="{FF2B5EF4-FFF2-40B4-BE49-F238E27FC236}">
                <a16:creationId xmlns:a16="http://schemas.microsoft.com/office/drawing/2014/main" id="{D816434E-5962-42FF-8A27-8AAB98BE8FF6}"/>
              </a:ext>
            </a:extLst>
          </p:cNvPr>
          <p:cNvPicPr>
            <a:picLocks noChangeAspect="1"/>
          </p:cNvPicPr>
          <p:nvPr/>
        </p:nvPicPr>
        <p:blipFill>
          <a:blip r:embed="rId3"/>
          <a:stretch>
            <a:fillRect/>
          </a:stretch>
        </p:blipFill>
        <p:spPr>
          <a:xfrm>
            <a:off x="9507" y="4333010"/>
            <a:ext cx="4633437" cy="2524980"/>
          </a:xfrm>
          <a:prstGeom prst="rect">
            <a:avLst/>
          </a:prstGeom>
        </p:spPr>
      </p:pic>
    </p:spTree>
    <p:extLst>
      <p:ext uri="{BB962C8B-B14F-4D97-AF65-F5344CB8AC3E}">
        <p14:creationId xmlns:p14="http://schemas.microsoft.com/office/powerpoint/2010/main" val="745576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7E326-D1F4-4032-960C-883280F8F723}"/>
              </a:ext>
            </a:extLst>
          </p:cNvPr>
          <p:cNvSpPr>
            <a:spLocks noGrp="1"/>
          </p:cNvSpPr>
          <p:nvPr>
            <p:ph type="title"/>
          </p:nvPr>
        </p:nvSpPr>
        <p:spPr>
          <a:xfrm>
            <a:off x="512792" y="353097"/>
            <a:ext cx="11303464" cy="706272"/>
          </a:xfrm>
        </p:spPr>
        <p:txBody>
          <a:bodyPr>
            <a:normAutofit fontScale="90000"/>
          </a:bodyPr>
          <a:lstStyle/>
          <a:p>
            <a:pPr marL="342900" rtl="0" fontAlgn="ctr">
              <a:spcBef>
                <a:spcPts val="0"/>
              </a:spcBef>
              <a:spcAft>
                <a:spcPts val="0"/>
              </a:spcAft>
            </a:pPr>
            <a:r>
              <a:rPr lang="en-US" sz="3100" b="1" u="sng" dirty="0">
                <a:latin typeface="Century Gothic" panose="020B0502020202020204" pitchFamily="34" charset="0"/>
              </a:rPr>
              <a:t>System Overview</a:t>
            </a:r>
            <a:r>
              <a:rPr lang="en-US" sz="3100" b="1" dirty="0">
                <a:latin typeface="Century Gothic" panose="020B0502020202020204" pitchFamily="34" charset="0"/>
              </a:rPr>
              <a:t>:</a:t>
            </a:r>
            <a:br>
              <a:rPr lang="en-US" sz="3100" b="1" dirty="0">
                <a:latin typeface="Century Gothic" panose="020B0502020202020204" pitchFamily="34" charset="0"/>
              </a:rPr>
            </a:br>
            <a:br>
              <a:rPr lang="en-US" sz="3100" b="1" dirty="0">
                <a:latin typeface="Century Gothic" panose="020B0502020202020204" pitchFamily="34" charset="0"/>
              </a:rPr>
            </a:br>
            <a:r>
              <a:rPr lang="en-US" sz="2700" dirty="0">
                <a:effectLst/>
                <a:latin typeface="Century Gothic" panose="020B0502020202020204" pitchFamily="34" charset="0"/>
              </a:rPr>
              <a:t>Adaptive Cruise Control (ACC) is an automotive feature that allows a vehicle's cruise control system to adapt the vehicle's speed to the traffic environment. A radar system attached to the front of the vehicle is used to detect whether slower moving vehicles are in the ACC vehicle's path. If a slower moving vehicle is detected, the ACC system will slow the vehicle down and control the clearance, or time gap, between the ACC vehicle and the forward vehicle. If the system detects that the forward vehicle is no longer in the ACC vehicle's path, the ACC system will accelerate the vehicle back to its set cruise control speed. This operation allows the ACC vehicle to autonomously slow down and speed up with traffic without intervention from the driver.</a:t>
            </a:r>
            <a:br>
              <a:rPr lang="en-US" sz="2700" dirty="0">
                <a:effectLst/>
                <a:latin typeface="Century Gothic" panose="020B0502020202020204" pitchFamily="34" charset="0"/>
              </a:rPr>
            </a:br>
            <a:br>
              <a:rPr lang="en-US" sz="2800" dirty="0">
                <a:effectLst/>
                <a:latin typeface="Century Gothic" panose="020B0502020202020204" pitchFamily="34" charset="0"/>
              </a:rPr>
            </a:br>
            <a:br>
              <a:rPr lang="en-US" sz="2800" b="1" dirty="0">
                <a:latin typeface="Century Gothic" panose="020B0502020202020204" pitchFamily="34" charset="0"/>
              </a:rPr>
            </a:br>
            <a:br>
              <a:rPr lang="en-US" sz="2800" b="1" dirty="0">
                <a:latin typeface="Century Gothic" panose="020B0502020202020204" pitchFamily="34" charset="0"/>
              </a:rPr>
            </a:br>
            <a:br>
              <a:rPr lang="en-US" sz="1100" dirty="0">
                <a:effectLst/>
                <a:latin typeface="Century Gothic" panose="020B0502020202020204" pitchFamily="34" charset="0"/>
              </a:rPr>
            </a:br>
            <a:endParaRPr lang="en-US" sz="2800" b="1" dirty="0">
              <a:latin typeface="Century Gothic" panose="020B0502020202020204" pitchFamily="34" charset="0"/>
            </a:endParaRPr>
          </a:p>
        </p:txBody>
      </p:sp>
      <p:graphicFrame>
        <p:nvGraphicFramePr>
          <p:cNvPr id="5" name="Content Placeholder 2" descr="icon SmartArt graphic placeholder">
            <a:extLst>
              <a:ext uri="{FF2B5EF4-FFF2-40B4-BE49-F238E27FC236}">
                <a16:creationId xmlns:a16="http://schemas.microsoft.com/office/drawing/2014/main" id="{E04C5C5B-F932-40FC-AD54-EE8AB0C58221}"/>
              </a:ext>
            </a:extLst>
          </p:cNvPr>
          <p:cNvGraphicFramePr>
            <a:graphicFrameLocks noGrp="1"/>
          </p:cNvGraphicFramePr>
          <p:nvPr>
            <p:ph idx="1"/>
            <p:extLst>
              <p:ext uri="{D42A27DB-BD31-4B8C-83A1-F6EECF244321}">
                <p14:modId xmlns:p14="http://schemas.microsoft.com/office/powerpoint/2010/main" val="1555205441"/>
              </p:ext>
            </p:extLst>
          </p:nvPr>
        </p:nvGraphicFramePr>
        <p:xfrm>
          <a:off x="1876567" y="2449773"/>
          <a:ext cx="9601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4417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0846D2EC-5ABB-4C90-BE88-8225AB76D35D}"/>
                  </a:ext>
                </a:extLst>
              </p:cNvPr>
              <p:cNvSpPr txBox="1"/>
              <p:nvPr/>
            </p:nvSpPr>
            <p:spPr>
              <a:xfrm>
                <a:off x="854299" y="309092"/>
                <a:ext cx="11341994" cy="5661678"/>
              </a:xfrm>
              <a:prstGeom prst="rect">
                <a:avLst/>
              </a:prstGeom>
              <a:noFill/>
            </p:spPr>
            <p:txBody>
              <a:bodyPr wrap="square" rtlCol="0">
                <a:spAutoFit/>
              </a:bodyPr>
              <a:lstStyle/>
              <a:p>
                <a:r>
                  <a:rPr lang="en-US" sz="2800" b="1" u="sng" dirty="0">
                    <a:latin typeface="Century Gothic" panose="020B0502020202020204" pitchFamily="34" charset="0"/>
                  </a:rPr>
                  <a:t>System Variables</a:t>
                </a:r>
                <a:r>
                  <a:rPr lang="en-US" sz="2800" b="1" dirty="0">
                    <a:latin typeface="Century Gothic" panose="020B0502020202020204" pitchFamily="34" charset="0"/>
                  </a:rPr>
                  <a:t>:</a:t>
                </a:r>
              </a:p>
              <a:p>
                <a:endParaRPr lang="en-US" dirty="0">
                  <a:latin typeface="Century Gothic" panose="020B0502020202020204" pitchFamily="34" charset="0"/>
                </a:endParaRPr>
              </a:p>
              <a:p>
                <a:r>
                  <a:rPr lang="en-US" sz="2400" dirty="0">
                    <a:effectLst/>
                    <a:latin typeface="Century Gothic" panose="020B0502020202020204" pitchFamily="34" charset="0"/>
                  </a:rPr>
                  <a:t>Several parameters are involved with the configuration of the ACC. The critical parameters include, but not limited to:</a:t>
                </a:r>
                <a:br>
                  <a:rPr lang="en-US" sz="2400" dirty="0">
                    <a:effectLst/>
                    <a:latin typeface="Century Gothic" panose="020B0502020202020204" pitchFamily="34" charset="0"/>
                  </a:rPr>
                </a:br>
                <a:endParaRPr lang="en-US" sz="2400" dirty="0">
                  <a:effectLst/>
                  <a:latin typeface="Century Gothic" panose="020B0502020202020204" pitchFamily="34" charset="0"/>
                </a:endParaRPr>
              </a:p>
              <a:p>
                <a:pPr marL="285750" indent="-285750">
                  <a:buFont typeface="Arial" panose="020B0604020202020204" pitchFamily="34" charset="0"/>
                  <a:buChar char="•"/>
                </a:pP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𝑠𝑒𝑡</m:t>
                        </m:r>
                      </m:sub>
                    </m:sSub>
                    <m:r>
                      <a:rPr lang="en-US" sz="2400" b="0" i="1" smtClean="0">
                        <a:latin typeface="Cambria Math" panose="02040503050406030204" pitchFamily="18" charset="0"/>
                      </a:rPr>
                      <m:t> </m:t>
                    </m:r>
                  </m:oMath>
                </a14:m>
                <a:r>
                  <a:rPr lang="en-US" sz="2400" dirty="0">
                    <a:effectLst/>
                    <a:latin typeface="Century Gothic" panose="020B0502020202020204" pitchFamily="34" charset="0"/>
                  </a:rPr>
                  <a:t>= Ego (follower) vehicle cruise velocity</a:t>
                </a:r>
              </a:p>
              <a:p>
                <a:pPr marL="285750" indent="-285750">
                  <a:buFont typeface="Arial" panose="020B0604020202020204" pitchFamily="34" charset="0"/>
                  <a:buChar char="•"/>
                </a:pPr>
                <a14:m>
                  <m:oMath xmlns:m="http://schemas.openxmlformats.org/officeDocument/2006/math">
                    <m:sSub>
                      <m:sSubPr>
                        <m:ctrlPr>
                          <a:rPr lang="en-US" sz="2400" i="1" dirty="0" smtClean="0">
                            <a:effectLst/>
                            <a:latin typeface="Cambria Math" panose="02040503050406030204" pitchFamily="18" charset="0"/>
                          </a:rPr>
                        </m:ctrlPr>
                      </m:sSubPr>
                      <m:e>
                        <m:r>
                          <a:rPr lang="en-US" sz="2400" b="0" i="1" dirty="0" smtClean="0">
                            <a:effectLst/>
                            <a:latin typeface="Cambria Math" panose="02040503050406030204" pitchFamily="18" charset="0"/>
                          </a:rPr>
                          <m:t>𝑉</m:t>
                        </m:r>
                      </m:e>
                      <m:sub>
                        <m:r>
                          <a:rPr lang="en-US" sz="2400" b="0" i="1" dirty="0" smtClean="0">
                            <a:effectLst/>
                            <a:latin typeface="Cambria Math" panose="02040503050406030204" pitchFamily="18" charset="0"/>
                          </a:rPr>
                          <m:t>0</m:t>
                        </m:r>
                      </m:sub>
                    </m:sSub>
                    <m:r>
                      <a:rPr lang="en-US" sz="2400" i="1" dirty="0" smtClean="0">
                        <a:effectLst/>
                        <a:latin typeface="Cambria Math" panose="02040503050406030204" pitchFamily="18" charset="0"/>
                      </a:rPr>
                      <m:t>_</m:t>
                    </m:r>
                    <m:r>
                      <a:rPr lang="en-US" sz="2400" b="0" i="1" dirty="0" smtClean="0">
                        <a:effectLst/>
                        <a:latin typeface="Cambria Math" panose="02040503050406030204" pitchFamily="18" charset="0"/>
                      </a:rPr>
                      <m:t>𝑙𝑒𝑎𝑑</m:t>
                    </m:r>
                  </m:oMath>
                </a14:m>
                <a:r>
                  <a:rPr lang="en-US" sz="2400" dirty="0">
                    <a:effectLst/>
                    <a:latin typeface="Century Gothic" panose="020B0502020202020204" pitchFamily="34" charset="0"/>
                  </a:rPr>
                  <a:t> = Lead vehicle initial velocity</a:t>
                </a:r>
              </a:p>
              <a:p>
                <a:pPr marL="285750" indent="-285750">
                  <a:buFont typeface="Arial" panose="020B0604020202020204" pitchFamily="34" charset="0"/>
                  <a:buChar char="•"/>
                </a:pPr>
                <a14:m>
                  <m:oMath xmlns:m="http://schemas.openxmlformats.org/officeDocument/2006/math">
                    <m:sSub>
                      <m:sSubPr>
                        <m:ctrlPr>
                          <a:rPr lang="en-US" sz="2400" i="1" dirty="0" smtClean="0">
                            <a:effectLst/>
                            <a:latin typeface="Cambria Math" panose="02040503050406030204" pitchFamily="18" charset="0"/>
                          </a:rPr>
                        </m:ctrlPr>
                      </m:sSubPr>
                      <m:e>
                        <m:r>
                          <a:rPr lang="en-US" sz="2400" b="0" i="1" dirty="0" smtClean="0">
                            <a:effectLst/>
                            <a:latin typeface="Cambria Math" panose="02040503050406030204" pitchFamily="18" charset="0"/>
                          </a:rPr>
                          <m:t>𝑋</m:t>
                        </m:r>
                      </m:e>
                      <m:sub>
                        <m:r>
                          <a:rPr lang="en-US" sz="2400" b="0" i="1" dirty="0" smtClean="0">
                            <a:effectLst/>
                            <a:latin typeface="Cambria Math" panose="02040503050406030204" pitchFamily="18" charset="0"/>
                          </a:rPr>
                          <m:t>0</m:t>
                        </m:r>
                      </m:sub>
                    </m:sSub>
                    <m:r>
                      <a:rPr lang="en-US" sz="2400" i="1" dirty="0" smtClean="0">
                        <a:effectLst/>
                        <a:latin typeface="Cambria Math" panose="02040503050406030204" pitchFamily="18" charset="0"/>
                      </a:rPr>
                      <m:t>_</m:t>
                    </m:r>
                    <m:r>
                      <a:rPr lang="en-US" sz="2400" b="0" i="1" dirty="0" smtClean="0">
                        <a:effectLst/>
                        <a:latin typeface="Cambria Math" panose="02040503050406030204" pitchFamily="18" charset="0"/>
                      </a:rPr>
                      <m:t>𝑙𝑒𝑎𝑑</m:t>
                    </m:r>
                  </m:oMath>
                </a14:m>
                <a:r>
                  <a:rPr lang="en-US" sz="2400" dirty="0">
                    <a:effectLst/>
                    <a:latin typeface="Century Gothic" panose="020B0502020202020204" pitchFamily="34" charset="0"/>
                  </a:rPr>
                  <a:t> = Lead vehicle initial position, with respect to an origin location</a:t>
                </a:r>
              </a:p>
              <a:p>
                <a:pPr marL="285750" indent="-285750">
                  <a:buFont typeface="Arial" panose="020B0604020202020204" pitchFamily="34" charset="0"/>
                  <a:buChar char="•"/>
                </a:pPr>
                <a14:m>
                  <m:oMath xmlns:m="http://schemas.openxmlformats.org/officeDocument/2006/math">
                    <m:sSub>
                      <m:sSubPr>
                        <m:ctrlPr>
                          <a:rPr lang="en-US" sz="2400" i="1" dirty="0" smtClean="0">
                            <a:effectLst/>
                            <a:latin typeface="Cambria Math" panose="02040503050406030204" pitchFamily="18" charset="0"/>
                          </a:rPr>
                        </m:ctrlPr>
                      </m:sSubPr>
                      <m:e>
                        <m:r>
                          <a:rPr lang="en-US" sz="2400" b="0" i="1" dirty="0" smtClean="0">
                            <a:effectLst/>
                            <a:latin typeface="Cambria Math" panose="02040503050406030204" pitchFamily="18" charset="0"/>
                          </a:rPr>
                          <m:t>𝑉</m:t>
                        </m:r>
                      </m:e>
                      <m:sub>
                        <m:r>
                          <a:rPr lang="en-US" sz="2400" b="0" i="1" dirty="0" smtClean="0">
                            <a:effectLst/>
                            <a:latin typeface="Cambria Math" panose="02040503050406030204" pitchFamily="18" charset="0"/>
                          </a:rPr>
                          <m:t>0</m:t>
                        </m:r>
                      </m:sub>
                    </m:sSub>
                    <m:r>
                      <a:rPr lang="en-US" sz="2400" i="1" dirty="0" smtClean="0">
                        <a:effectLst/>
                        <a:latin typeface="Cambria Math" panose="02040503050406030204" pitchFamily="18" charset="0"/>
                      </a:rPr>
                      <m:t>_</m:t>
                    </m:r>
                    <m:r>
                      <a:rPr lang="en-US" sz="2400" i="1" dirty="0" smtClean="0">
                        <a:effectLst/>
                        <a:latin typeface="Cambria Math" panose="02040503050406030204" pitchFamily="18" charset="0"/>
                      </a:rPr>
                      <m:t>𝑒𝑔𝑜</m:t>
                    </m:r>
                    <m:r>
                      <a:rPr lang="en-US" sz="2400" i="1" dirty="0" smtClean="0">
                        <a:effectLst/>
                        <a:latin typeface="Cambria Math" panose="02040503050406030204" pitchFamily="18" charset="0"/>
                      </a:rPr>
                      <m:t> </m:t>
                    </m:r>
                  </m:oMath>
                </a14:m>
                <a:r>
                  <a:rPr lang="en-US" sz="2400" dirty="0">
                    <a:effectLst/>
                    <a:latin typeface="Century Gothic" panose="020B0502020202020204" pitchFamily="34" charset="0"/>
                  </a:rPr>
                  <a:t>= Ego vehicle initial velocity</a:t>
                </a:r>
              </a:p>
              <a:p>
                <a:pPr marL="285750" indent="-285750">
                  <a:buFont typeface="Arial" panose="020B0604020202020204" pitchFamily="34" charset="0"/>
                  <a:buChar char="•"/>
                </a:pPr>
                <a14:m>
                  <m:oMath xmlns:m="http://schemas.openxmlformats.org/officeDocument/2006/math">
                    <m:sSub>
                      <m:sSubPr>
                        <m:ctrlPr>
                          <a:rPr lang="en-US" sz="2400" i="1" dirty="0" smtClean="0">
                            <a:effectLst/>
                            <a:latin typeface="Cambria Math" panose="02040503050406030204" pitchFamily="18" charset="0"/>
                          </a:rPr>
                        </m:ctrlPr>
                      </m:sSubPr>
                      <m:e>
                        <m:r>
                          <a:rPr lang="en-US" sz="2400" b="0" i="1" dirty="0" smtClean="0">
                            <a:effectLst/>
                            <a:latin typeface="Cambria Math" panose="02040503050406030204" pitchFamily="18" charset="0"/>
                          </a:rPr>
                          <m:t>𝑋</m:t>
                        </m:r>
                      </m:e>
                      <m:sub>
                        <m:r>
                          <a:rPr lang="en-US" sz="2400" b="0" i="1" dirty="0" smtClean="0">
                            <a:effectLst/>
                            <a:latin typeface="Cambria Math" panose="02040503050406030204" pitchFamily="18" charset="0"/>
                          </a:rPr>
                          <m:t>0</m:t>
                        </m:r>
                      </m:sub>
                    </m:sSub>
                    <m:r>
                      <a:rPr lang="en-US" sz="2400" i="1" dirty="0" smtClean="0">
                        <a:effectLst/>
                        <a:latin typeface="Cambria Math" panose="02040503050406030204" pitchFamily="18" charset="0"/>
                      </a:rPr>
                      <m:t>_</m:t>
                    </m:r>
                    <m:r>
                      <a:rPr lang="en-US" sz="2400" i="1" dirty="0" smtClean="0">
                        <a:effectLst/>
                        <a:latin typeface="Cambria Math" panose="02040503050406030204" pitchFamily="18" charset="0"/>
                      </a:rPr>
                      <m:t>𝑒𝑔𝑜</m:t>
                    </m:r>
                  </m:oMath>
                </a14:m>
                <a:r>
                  <a:rPr lang="en-US" sz="2400" dirty="0">
                    <a:effectLst/>
                    <a:latin typeface="Century Gothic" panose="020B0502020202020204" pitchFamily="34" charset="0"/>
                  </a:rPr>
                  <a:t> = Ego vehicle initial position, with respect to an origin location</a:t>
                </a:r>
              </a:p>
              <a:p>
                <a:pPr marL="285750" indent="-285750">
                  <a:buFont typeface="Arial" panose="020B0604020202020204" pitchFamily="34" charset="0"/>
                  <a:buChar char="•"/>
                </a:pP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𝑔𝑎𝑝</m:t>
                        </m:r>
                      </m:sub>
                    </m:sSub>
                    <m:r>
                      <a:rPr lang="en-US" sz="2400" b="0" i="1" smtClean="0">
                        <a:latin typeface="Cambria Math" panose="02040503050406030204" pitchFamily="18" charset="0"/>
                      </a:rPr>
                      <m:t> </m:t>
                    </m:r>
                  </m:oMath>
                </a14:m>
                <a:r>
                  <a:rPr lang="en-US" sz="2400" dirty="0">
                    <a:effectLst/>
                    <a:latin typeface="Century Gothic" panose="020B0502020202020204" pitchFamily="34" charset="0"/>
                  </a:rPr>
                  <a:t>= Time gap between lead and ego vehicles</a:t>
                </a:r>
              </a:p>
              <a:p>
                <a:pPr marL="285750" indent="-285750">
                  <a:buFont typeface="Arial" panose="020B0604020202020204" pitchFamily="34" charset="0"/>
                  <a:buChar char="•"/>
                </a:pPr>
                <a14:m>
                  <m:oMath xmlns:m="http://schemas.openxmlformats.org/officeDocument/2006/math">
                    <m:r>
                      <a:rPr lang="en-US" sz="2400" i="1" dirty="0" smtClean="0">
                        <a:effectLst/>
                        <a:latin typeface="Cambria Math" panose="02040503050406030204" pitchFamily="18" charset="0"/>
                      </a:rPr>
                      <m:t>𝐷</m:t>
                    </m:r>
                    <m:r>
                      <a:rPr lang="en-US" sz="2400" i="1" dirty="0" smtClean="0">
                        <a:effectLst/>
                        <a:latin typeface="Cambria Math" panose="02040503050406030204" pitchFamily="18" charset="0"/>
                      </a:rPr>
                      <m:t>_</m:t>
                    </m:r>
                    <m:r>
                      <a:rPr lang="en-US" sz="2400" i="1" dirty="0" smtClean="0">
                        <a:effectLst/>
                        <a:latin typeface="Cambria Math" panose="02040503050406030204" pitchFamily="18" charset="0"/>
                      </a:rPr>
                      <m:t>𝑑𝑒𝑓𝑎𝑢𝑙𝑡</m:t>
                    </m:r>
                  </m:oMath>
                </a14:m>
                <a:r>
                  <a:rPr lang="en-US" sz="2400" dirty="0">
                    <a:effectLst/>
                    <a:latin typeface="Century Gothic" panose="020B0502020202020204" pitchFamily="34" charset="0"/>
                  </a:rPr>
                  <a:t> = Standstill default spacing between vehicles</a:t>
                </a:r>
              </a:p>
              <a:p>
                <a:pPr marL="285750" indent="-285750">
                  <a:buFont typeface="Arial" panose="020B0604020202020204" pitchFamily="34" charset="0"/>
                  <a:buChar char="•"/>
                </a:pPr>
                <a14:m>
                  <m:oMath xmlns:m="http://schemas.openxmlformats.org/officeDocument/2006/math">
                    <m:sSub>
                      <m:sSubPr>
                        <m:ctrlPr>
                          <a:rPr lang="en-US" sz="2400" i="1" dirty="0" smtClean="0">
                            <a:effectLst/>
                            <a:latin typeface="Cambria Math" panose="02040503050406030204" pitchFamily="18" charset="0"/>
                          </a:rPr>
                        </m:ctrlPr>
                      </m:sSubPr>
                      <m:e>
                        <m:r>
                          <a:rPr lang="en-US" sz="2400" b="0" i="1" dirty="0" smtClean="0">
                            <a:effectLst/>
                            <a:latin typeface="Cambria Math" panose="02040503050406030204" pitchFamily="18" charset="0"/>
                          </a:rPr>
                          <m:t>𝐴</m:t>
                        </m:r>
                      </m:e>
                      <m:sub>
                        <m:r>
                          <a:rPr lang="en-US" sz="2400" b="0" i="1" dirty="0" smtClean="0">
                            <a:effectLst/>
                            <a:latin typeface="Cambria Math" panose="02040503050406030204" pitchFamily="18" charset="0"/>
                          </a:rPr>
                          <m:t>𝑚𝑖𝑛</m:t>
                        </m:r>
                      </m:sub>
                    </m:sSub>
                    <m:r>
                      <a:rPr lang="en-US" sz="2400" i="1" dirty="0" smtClean="0">
                        <a:effectLst/>
                        <a:latin typeface="Cambria Math" panose="02040503050406030204" pitchFamily="18" charset="0"/>
                      </a:rPr>
                      <m:t>_</m:t>
                    </m:r>
                    <m:r>
                      <a:rPr lang="en-US" sz="2400" i="1" dirty="0" smtClean="0">
                        <a:effectLst/>
                        <a:latin typeface="Cambria Math" panose="02040503050406030204" pitchFamily="18" charset="0"/>
                      </a:rPr>
                      <m:t>𝑒𝑔𝑜</m:t>
                    </m:r>
                    <m:r>
                      <a:rPr lang="en-US" sz="2400" i="1" dirty="0" smtClean="0">
                        <a:effectLst/>
                        <a:latin typeface="Cambria Math" panose="02040503050406030204" pitchFamily="18" charset="0"/>
                      </a:rPr>
                      <m:t> </m:t>
                    </m:r>
                  </m:oMath>
                </a14:m>
                <a:r>
                  <a:rPr lang="en-US" sz="2400" dirty="0">
                    <a:effectLst/>
                    <a:latin typeface="Century Gothic" panose="020B0502020202020204" pitchFamily="34" charset="0"/>
                  </a:rPr>
                  <a:t>= Minimum acceleration of the ego vehicle</a:t>
                </a:r>
              </a:p>
              <a:p>
                <a:pPr marL="285750" indent="-285750">
                  <a:buFont typeface="Arial" panose="020B0604020202020204" pitchFamily="34" charset="0"/>
                  <a:buChar char="•"/>
                </a:pPr>
                <a14:m>
                  <m:oMath xmlns:m="http://schemas.openxmlformats.org/officeDocument/2006/math">
                    <m:sSub>
                      <m:sSubPr>
                        <m:ctrlPr>
                          <a:rPr lang="en-US" sz="2400" i="1" dirty="0" smtClean="0">
                            <a:effectLst/>
                            <a:latin typeface="Cambria Math" panose="02040503050406030204" pitchFamily="18" charset="0"/>
                          </a:rPr>
                        </m:ctrlPr>
                      </m:sSubPr>
                      <m:e>
                        <m:r>
                          <a:rPr lang="en-US" sz="2400" b="0" i="1" dirty="0" smtClean="0">
                            <a:effectLst/>
                            <a:latin typeface="Cambria Math" panose="02040503050406030204" pitchFamily="18" charset="0"/>
                          </a:rPr>
                          <m:t>𝐴</m:t>
                        </m:r>
                      </m:e>
                      <m:sub>
                        <m:r>
                          <a:rPr lang="en-US" sz="2400" b="0" i="1" dirty="0" smtClean="0">
                            <a:effectLst/>
                            <a:latin typeface="Cambria Math" panose="02040503050406030204" pitchFamily="18" charset="0"/>
                          </a:rPr>
                          <m:t>𝑚𝑎𝑥</m:t>
                        </m:r>
                      </m:sub>
                    </m:sSub>
                    <m:r>
                      <a:rPr lang="en-US" sz="2400" i="1" dirty="0" smtClean="0">
                        <a:effectLst/>
                        <a:latin typeface="Cambria Math" panose="02040503050406030204" pitchFamily="18" charset="0"/>
                      </a:rPr>
                      <m:t>_</m:t>
                    </m:r>
                    <m:r>
                      <a:rPr lang="en-US" sz="2400" i="1" dirty="0" smtClean="0">
                        <a:effectLst/>
                        <a:latin typeface="Cambria Math" panose="02040503050406030204" pitchFamily="18" charset="0"/>
                      </a:rPr>
                      <m:t>𝑒𝑔𝑜</m:t>
                    </m:r>
                  </m:oMath>
                </a14:m>
                <a:r>
                  <a:rPr lang="en-US" sz="2400" dirty="0">
                    <a:effectLst/>
                    <a:latin typeface="Century Gothic" panose="020B0502020202020204" pitchFamily="34" charset="0"/>
                  </a:rPr>
                  <a:t> = Maximum acceleration of the ego vehicle</a:t>
                </a:r>
              </a:p>
              <a:p>
                <a:pPr marL="285750" indent="-285750">
                  <a:buFont typeface="Arial" panose="020B0604020202020204" pitchFamily="34" charset="0"/>
                  <a:buChar char="•"/>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𝐷</m:t>
                        </m:r>
                      </m:e>
                      <m:sub>
                        <m:r>
                          <a:rPr lang="en-US" sz="2400" i="1">
                            <a:latin typeface="Cambria Math" panose="02040503050406030204" pitchFamily="18" charset="0"/>
                          </a:rPr>
                          <m:t>𝑠𝑎𝑓𝑒</m:t>
                        </m:r>
                      </m:sub>
                    </m:sSub>
                  </m:oMath>
                </a14:m>
                <a:r>
                  <a:rPr lang="en-US" sz="2400" dirty="0">
                    <a:latin typeface="Century Gothic" panose="020B0502020202020204" pitchFamily="34" charset="0"/>
                  </a:rPr>
                  <a:t> =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𝐷</m:t>
                        </m:r>
                      </m:e>
                      <m:sub>
                        <m:r>
                          <a:rPr lang="en-US" sz="2400" i="1" dirty="0">
                            <a:latin typeface="Cambria Math" panose="02040503050406030204" pitchFamily="18" charset="0"/>
                          </a:rPr>
                          <m:t>𝑑𝑒𝑓𝑎𝑢𝑙𝑡</m:t>
                        </m:r>
                      </m:sub>
                    </m:sSub>
                  </m:oMath>
                </a14:m>
                <a:r>
                  <a:rPr lang="en-US" sz="2400" dirty="0">
                    <a:latin typeface="Century Gothic" panose="020B0502020202020204" pitchFamily="34" charset="0"/>
                  </a:rPr>
                  <a:t> +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𝑇</m:t>
                        </m:r>
                      </m:e>
                      <m:sub>
                        <m:r>
                          <a:rPr lang="en-US" sz="2400" i="1" dirty="0">
                            <a:latin typeface="Cambria Math" panose="02040503050406030204" pitchFamily="18" charset="0"/>
                          </a:rPr>
                          <m:t>𝑔𝑎𝑝</m:t>
                        </m:r>
                      </m:sub>
                    </m:sSub>
                  </m:oMath>
                </a14:m>
                <a:r>
                  <a:rPr lang="en-US" sz="2400" dirty="0">
                    <a:latin typeface="Century Gothic" panose="020B0502020202020204" pitchFamily="34" charset="0"/>
                  </a:rPr>
                  <a:t> *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𝑒𝑔𝑜</m:t>
                        </m:r>
                      </m:sub>
                    </m:sSub>
                    <m:r>
                      <a:rPr lang="en-US" sz="2400" i="1">
                        <a:latin typeface="Cambria Math" panose="02040503050406030204" pitchFamily="18" charset="0"/>
                      </a:rPr>
                      <m:t> </m:t>
                    </m:r>
                  </m:oMath>
                </a14:m>
                <a:r>
                  <a:rPr lang="en-US" sz="2400" dirty="0">
                    <a:latin typeface="Century Gothic" panose="020B0502020202020204" pitchFamily="34" charset="0"/>
                  </a:rPr>
                  <a:t>= Safe distance between vehicles</a:t>
                </a:r>
              </a:p>
            </p:txBody>
          </p:sp>
        </mc:Choice>
        <mc:Fallback>
          <p:sp>
            <p:nvSpPr>
              <p:cNvPr id="2" name="TextBox 1">
                <a:extLst>
                  <a:ext uri="{FF2B5EF4-FFF2-40B4-BE49-F238E27FC236}">
                    <a16:creationId xmlns:a16="http://schemas.microsoft.com/office/drawing/2014/main" id="{0846D2EC-5ABB-4C90-BE88-8225AB76D35D}"/>
                  </a:ext>
                </a:extLst>
              </p:cNvPr>
              <p:cNvSpPr txBox="1">
                <a:spLocks noRot="1" noChangeAspect="1" noMove="1" noResize="1" noEditPoints="1" noAdjustHandles="1" noChangeArrowheads="1" noChangeShapeType="1" noTextEdit="1"/>
              </p:cNvSpPr>
              <p:nvPr/>
            </p:nvSpPr>
            <p:spPr>
              <a:xfrm>
                <a:off x="854299" y="309092"/>
                <a:ext cx="11341994" cy="5661678"/>
              </a:xfrm>
              <a:prstGeom prst="rect">
                <a:avLst/>
              </a:prstGeom>
              <a:blipFill>
                <a:blip r:embed="rId2"/>
                <a:stretch>
                  <a:fillRect l="-1075" t="-1185" b="-970"/>
                </a:stretch>
              </a:blipFill>
            </p:spPr>
            <p:txBody>
              <a:bodyPr/>
              <a:lstStyle/>
              <a:p>
                <a:r>
                  <a:rPr lang="en-US">
                    <a:noFill/>
                  </a:rPr>
                  <a:t> </a:t>
                </a:r>
              </a:p>
            </p:txBody>
          </p:sp>
        </mc:Fallback>
      </mc:AlternateContent>
    </p:spTree>
    <p:extLst>
      <p:ext uri="{BB962C8B-B14F-4D97-AF65-F5344CB8AC3E}">
        <p14:creationId xmlns:p14="http://schemas.microsoft.com/office/powerpoint/2010/main" val="3227116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FDD9465-5679-4425-A8AD-EF1844B4F04E}"/>
                  </a:ext>
                </a:extLst>
              </p:cNvPr>
              <p:cNvSpPr txBox="1"/>
              <p:nvPr/>
            </p:nvSpPr>
            <p:spPr>
              <a:xfrm>
                <a:off x="809726" y="323849"/>
                <a:ext cx="9394209" cy="5105628"/>
              </a:xfrm>
              <a:prstGeom prst="rect">
                <a:avLst/>
              </a:prstGeom>
              <a:noFill/>
            </p:spPr>
            <p:txBody>
              <a:bodyPr wrap="square">
                <a:spAutoFit/>
              </a:bodyPr>
              <a:lstStyle/>
              <a:p>
                <a:r>
                  <a:rPr lang="en-US" sz="2800" b="1" u="sng" dirty="0">
                    <a:latin typeface="Century Gothic" panose="020B0502020202020204" pitchFamily="34" charset="0"/>
                  </a:rPr>
                  <a:t>Modes of Operation</a:t>
                </a:r>
                <a:r>
                  <a:rPr lang="en-US" sz="2800" b="1" dirty="0">
                    <a:latin typeface="Century Gothic" panose="020B0502020202020204" pitchFamily="34" charset="0"/>
                  </a:rPr>
                  <a:t>:</a:t>
                </a:r>
              </a:p>
              <a:p>
                <a:endParaRPr lang="en-US" sz="2800" b="1" dirty="0">
                  <a:latin typeface="Century Gothic" panose="020B0502020202020204" pitchFamily="34" charset="0"/>
                </a:endParaRPr>
              </a:p>
              <a:p>
                <a:r>
                  <a:rPr lang="en-US" sz="2400" dirty="0">
                    <a:latin typeface="Century Gothic" panose="020B0502020202020204" pitchFamily="34" charset="0"/>
                  </a:rPr>
                  <a:t>The following rules are used to determine the ACC system operation mode:</a:t>
                </a:r>
              </a:p>
              <a:p>
                <a:pPr marL="342900" indent="-342900">
                  <a:buFont typeface="Arial" panose="020B0604020202020204" pitchFamily="34" charset="0"/>
                  <a:buChar char="•"/>
                </a:pPr>
                <a:r>
                  <a:rPr lang="en-US" sz="2400" dirty="0">
                    <a:latin typeface="Century Gothic" panose="020B0502020202020204" pitchFamily="34" charset="0"/>
                  </a:rPr>
                  <a:t>If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𝑟𝑒𝑙</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𝐷</m:t>
                        </m:r>
                      </m:e>
                      <m:sub>
                        <m:r>
                          <a:rPr lang="en-US" sz="2400" b="0" i="1" smtClean="0">
                            <a:latin typeface="Cambria Math" panose="02040503050406030204" pitchFamily="18" charset="0"/>
                            <a:ea typeface="Cambria Math" panose="02040503050406030204" pitchFamily="18" charset="0"/>
                          </a:rPr>
                          <m:t>𝑠𝑎𝑓𝑒</m:t>
                        </m:r>
                      </m:sub>
                    </m:sSub>
                  </m:oMath>
                </a14:m>
                <a:r>
                  <a:rPr lang="en-US" sz="2400" dirty="0">
                    <a:latin typeface="Century Gothic" panose="020B0502020202020204" pitchFamily="34" charset="0"/>
                  </a:rPr>
                  <a:t>, then speed control mode is active. The control gain is to </a:t>
                </a:r>
                <a:r>
                  <a:rPr lang="en-US" sz="2400" dirty="0" err="1">
                    <a:latin typeface="Century Gothic" panose="020B0502020202020204" pitchFamily="34" charset="0"/>
                  </a:rPr>
                  <a:t>tarck</a:t>
                </a:r>
                <a:r>
                  <a:rPr lang="en-US" sz="2400" dirty="0">
                    <a:latin typeface="Century Gothic" panose="020B0502020202020204" pitchFamily="34" charset="0"/>
                  </a:rPr>
                  <a:t> the driver-set velocity,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𝑠𝑒𝑡</m:t>
                        </m:r>
                      </m:sub>
                    </m:sSub>
                  </m:oMath>
                </a14:m>
                <a:endParaRPr lang="en-US" sz="2400" dirty="0">
                  <a:latin typeface="Century Gothic" panose="020B0502020202020204" pitchFamily="34" charset="0"/>
                </a:endParaRPr>
              </a:p>
              <a:p>
                <a:endParaRPr lang="en-US" sz="2400" dirty="0">
                  <a:latin typeface="Century Gothic" panose="020B0502020202020204" pitchFamily="34" charset="0"/>
                </a:endParaRPr>
              </a:p>
              <a:p>
                <a:pPr marL="342900" indent="-342900">
                  <a:buFont typeface="Arial" panose="020B0604020202020204" pitchFamily="34" charset="0"/>
                  <a:buChar char="•"/>
                </a:pPr>
                <a:endParaRPr lang="en-US" sz="2400" dirty="0">
                  <a:latin typeface="Century Gothic" panose="020B0502020202020204" pitchFamily="34" charset="0"/>
                </a:endParaRPr>
              </a:p>
              <a:p>
                <a:pPr marL="342900" indent="-342900">
                  <a:buFont typeface="Arial" panose="020B0604020202020204" pitchFamily="34" charset="0"/>
                  <a:buChar char="•"/>
                </a:pPr>
                <a:endParaRPr lang="en-US" sz="2400" dirty="0">
                  <a:latin typeface="Century Gothic" panose="020B0502020202020204" pitchFamily="34" charset="0"/>
                </a:endParaRPr>
              </a:p>
              <a:p>
                <a:endParaRPr lang="en-US" sz="2400" dirty="0">
                  <a:latin typeface="Century Gothic" panose="020B0502020202020204" pitchFamily="34" charset="0"/>
                </a:endParaRPr>
              </a:p>
              <a:p>
                <a:pPr marL="342900" indent="-342900">
                  <a:buFont typeface="Arial" panose="020B0604020202020204" pitchFamily="34" charset="0"/>
                  <a:buChar char="•"/>
                </a:pPr>
                <a:r>
                  <a:rPr lang="en-US" sz="2400" dirty="0">
                    <a:latin typeface="Century Gothic" panose="020B0502020202020204" pitchFamily="34" charset="0"/>
                  </a:rPr>
                  <a:t>If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𝑟𝑒𝑙</m:t>
                        </m:r>
                      </m:sub>
                    </m:sSub>
                    <m:r>
                      <a:rPr lang="en-US" sz="2400" i="1">
                        <a:latin typeface="Cambria Math" panose="02040503050406030204" pitchFamily="18" charset="0"/>
                        <a:ea typeface="Cambria Math" panose="02040503050406030204" pitchFamily="18" charset="0"/>
                      </a:rPr>
                      <m:t>&lt;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𝐷</m:t>
                        </m:r>
                      </m:e>
                      <m:sub>
                        <m:r>
                          <a:rPr lang="en-US" sz="2400" b="0" i="1" smtClean="0">
                            <a:latin typeface="Cambria Math" panose="02040503050406030204" pitchFamily="18" charset="0"/>
                            <a:ea typeface="Cambria Math" panose="02040503050406030204" pitchFamily="18" charset="0"/>
                          </a:rPr>
                          <m:t>𝑠𝑎𝑓𝑒</m:t>
                        </m:r>
                      </m:sub>
                    </m:sSub>
                  </m:oMath>
                </a14:m>
                <a:r>
                  <a:rPr lang="en-US" sz="2400" dirty="0">
                    <a:latin typeface="Century Gothic" panose="020B0502020202020204" pitchFamily="34" charset="0"/>
                  </a:rPr>
                  <a:t>, then spacing control mode is active. The control gain is to maintain the safe distance,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𝐷</m:t>
                        </m:r>
                      </m:e>
                      <m:sub>
                        <m:r>
                          <a:rPr lang="en-US" sz="2400" i="1">
                            <a:latin typeface="Cambria Math" panose="02040503050406030204" pitchFamily="18" charset="0"/>
                            <a:ea typeface="Cambria Math" panose="02040503050406030204" pitchFamily="18" charset="0"/>
                          </a:rPr>
                          <m:t>𝑠𝑎𝑓𝑒</m:t>
                        </m:r>
                      </m:sub>
                    </m:sSub>
                  </m:oMath>
                </a14:m>
                <a:endParaRPr lang="en-US" sz="2400" dirty="0">
                  <a:latin typeface="Century Gothic" panose="020B0502020202020204" pitchFamily="34" charset="0"/>
                </a:endParaRPr>
              </a:p>
              <a:p>
                <a:endParaRPr lang="en-US" sz="2400" dirty="0">
                  <a:latin typeface="Century Gothic" panose="020B0502020202020204" pitchFamily="34" charset="0"/>
                </a:endParaRPr>
              </a:p>
            </p:txBody>
          </p:sp>
        </mc:Choice>
        <mc:Fallback>
          <p:sp>
            <p:nvSpPr>
              <p:cNvPr id="5" name="TextBox 4">
                <a:extLst>
                  <a:ext uri="{FF2B5EF4-FFF2-40B4-BE49-F238E27FC236}">
                    <a16:creationId xmlns:a16="http://schemas.microsoft.com/office/drawing/2014/main" id="{7FDD9465-5679-4425-A8AD-EF1844B4F04E}"/>
                  </a:ext>
                </a:extLst>
              </p:cNvPr>
              <p:cNvSpPr txBox="1">
                <a:spLocks noRot="1" noChangeAspect="1" noMove="1" noResize="1" noEditPoints="1" noAdjustHandles="1" noChangeArrowheads="1" noChangeShapeType="1" noTextEdit="1"/>
              </p:cNvSpPr>
              <p:nvPr/>
            </p:nvSpPr>
            <p:spPr>
              <a:xfrm>
                <a:off x="809726" y="323849"/>
                <a:ext cx="9394209" cy="5105628"/>
              </a:xfrm>
              <a:prstGeom prst="rect">
                <a:avLst/>
              </a:prstGeom>
              <a:blipFill>
                <a:blip r:embed="rId2"/>
                <a:stretch>
                  <a:fillRect l="-1363" t="-119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C063D567-EA80-46F7-9038-3A6322241912}"/>
              </a:ext>
            </a:extLst>
          </p:cNvPr>
          <p:cNvPicPr>
            <a:picLocks noChangeAspect="1"/>
          </p:cNvPicPr>
          <p:nvPr/>
        </p:nvPicPr>
        <p:blipFill>
          <a:blip r:embed="rId3"/>
          <a:stretch>
            <a:fillRect/>
          </a:stretch>
        </p:blipFill>
        <p:spPr>
          <a:xfrm>
            <a:off x="1219189" y="2813732"/>
            <a:ext cx="6848596" cy="1230535"/>
          </a:xfrm>
          <a:prstGeom prst="rect">
            <a:avLst/>
          </a:prstGeom>
        </p:spPr>
      </p:pic>
      <p:pic>
        <p:nvPicPr>
          <p:cNvPr id="7" name="Picture 6">
            <a:extLst>
              <a:ext uri="{FF2B5EF4-FFF2-40B4-BE49-F238E27FC236}">
                <a16:creationId xmlns:a16="http://schemas.microsoft.com/office/drawing/2014/main" id="{C424745B-9183-421A-BDF2-20BFF5847EC2}"/>
              </a:ext>
            </a:extLst>
          </p:cNvPr>
          <p:cNvPicPr>
            <a:picLocks noChangeAspect="1"/>
          </p:cNvPicPr>
          <p:nvPr/>
        </p:nvPicPr>
        <p:blipFill>
          <a:blip r:embed="rId4"/>
          <a:stretch>
            <a:fillRect/>
          </a:stretch>
        </p:blipFill>
        <p:spPr>
          <a:xfrm>
            <a:off x="1219189" y="5115653"/>
            <a:ext cx="6848596" cy="1284402"/>
          </a:xfrm>
          <a:prstGeom prst="rect">
            <a:avLst/>
          </a:prstGeom>
        </p:spPr>
      </p:pic>
    </p:spTree>
    <p:extLst>
      <p:ext uri="{BB962C8B-B14F-4D97-AF65-F5344CB8AC3E}">
        <p14:creationId xmlns:p14="http://schemas.microsoft.com/office/powerpoint/2010/main" val="4180012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EB8C60-6304-431A-BF6C-14386E1B7769}"/>
              </a:ext>
            </a:extLst>
          </p:cNvPr>
          <p:cNvPicPr>
            <a:picLocks noChangeAspect="1"/>
          </p:cNvPicPr>
          <p:nvPr/>
        </p:nvPicPr>
        <p:blipFill>
          <a:blip r:embed="rId2"/>
          <a:stretch>
            <a:fillRect/>
          </a:stretch>
        </p:blipFill>
        <p:spPr>
          <a:xfrm>
            <a:off x="1153312" y="1303012"/>
            <a:ext cx="10092757" cy="3274511"/>
          </a:xfrm>
          <a:prstGeom prst="rect">
            <a:avLst/>
          </a:prstGeom>
        </p:spPr>
      </p:pic>
      <p:sp>
        <p:nvSpPr>
          <p:cNvPr id="5" name="TextBox 4">
            <a:extLst>
              <a:ext uri="{FF2B5EF4-FFF2-40B4-BE49-F238E27FC236}">
                <a16:creationId xmlns:a16="http://schemas.microsoft.com/office/drawing/2014/main" id="{DF1BB72E-36AF-4A70-A5EA-65DCCC1B3869}"/>
              </a:ext>
            </a:extLst>
          </p:cNvPr>
          <p:cNvSpPr txBox="1"/>
          <p:nvPr/>
        </p:nvSpPr>
        <p:spPr>
          <a:xfrm>
            <a:off x="1065157" y="449896"/>
            <a:ext cx="7270859" cy="523220"/>
          </a:xfrm>
          <a:prstGeom prst="rect">
            <a:avLst/>
          </a:prstGeom>
          <a:noFill/>
        </p:spPr>
        <p:txBody>
          <a:bodyPr wrap="square">
            <a:spAutoFit/>
          </a:bodyPr>
          <a:lstStyle/>
          <a:p>
            <a:r>
              <a:rPr lang="en-US" sz="2800" b="1" u="sng" dirty="0">
                <a:latin typeface="Century Gothic" panose="020B0502020202020204" pitchFamily="34" charset="0"/>
              </a:rPr>
              <a:t>ACC State Machine Representation</a:t>
            </a:r>
            <a:r>
              <a:rPr lang="en-US" sz="2800" b="1" dirty="0">
                <a:latin typeface="Century Gothic" panose="020B0502020202020204" pitchFamily="34" charset="0"/>
              </a:rPr>
              <a:t>:</a:t>
            </a:r>
          </a:p>
        </p:txBody>
      </p:sp>
    </p:spTree>
    <p:extLst>
      <p:ext uri="{BB962C8B-B14F-4D97-AF65-F5344CB8AC3E}">
        <p14:creationId xmlns:p14="http://schemas.microsoft.com/office/powerpoint/2010/main" val="3900348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ECCED6-2561-4794-8B6B-BEB787D8ADBA}"/>
              </a:ext>
            </a:extLst>
          </p:cNvPr>
          <p:cNvSpPr txBox="1"/>
          <p:nvPr/>
        </p:nvSpPr>
        <p:spPr>
          <a:xfrm>
            <a:off x="826580" y="358666"/>
            <a:ext cx="9470309" cy="5447645"/>
          </a:xfrm>
          <a:prstGeom prst="rect">
            <a:avLst/>
          </a:prstGeom>
          <a:noFill/>
        </p:spPr>
        <p:txBody>
          <a:bodyPr wrap="square" rtlCol="0">
            <a:spAutoFit/>
          </a:bodyPr>
          <a:lstStyle/>
          <a:p>
            <a:r>
              <a:rPr lang="en-US" sz="2800" b="1" u="sng" dirty="0">
                <a:latin typeface="Century Gothic" panose="020B0502020202020204" pitchFamily="34" charset="0"/>
              </a:rPr>
              <a:t>Control System</a:t>
            </a:r>
            <a:r>
              <a:rPr lang="en-US" sz="2800" b="1" dirty="0">
                <a:latin typeface="Century Gothic" panose="020B0502020202020204" pitchFamily="34" charset="0"/>
              </a:rPr>
              <a:t>:</a:t>
            </a:r>
          </a:p>
          <a:p>
            <a:endParaRPr lang="en-US" sz="2800" b="1" dirty="0"/>
          </a:p>
          <a:p>
            <a:r>
              <a:rPr lang="en-US" sz="2400" dirty="0">
                <a:latin typeface="Century Gothic" panose="020B0502020202020204" pitchFamily="34" charset="0"/>
              </a:rPr>
              <a:t>The control system employed for the ACC is a PI controller. The system Simulink model is structured in a modular approach, for concise overview. The modules (subsystems) that comprise the system are the following:</a:t>
            </a:r>
          </a:p>
          <a:p>
            <a:pPr marL="457200" indent="-457200">
              <a:buFont typeface="Arial" panose="020B0604020202020204" pitchFamily="34" charset="0"/>
              <a:buChar char="•"/>
            </a:pPr>
            <a:r>
              <a:rPr lang="en-US" sz="2400" dirty="0">
                <a:latin typeface="Century Gothic" panose="020B0502020202020204" pitchFamily="34" charset="0"/>
              </a:rPr>
              <a:t>Input signal configuration </a:t>
            </a:r>
          </a:p>
          <a:p>
            <a:pPr marL="457200" indent="-457200">
              <a:buFont typeface="Arial" panose="020B0604020202020204" pitchFamily="34" charset="0"/>
              <a:buChar char="•"/>
            </a:pPr>
            <a:r>
              <a:rPr lang="en-US" sz="2400" dirty="0">
                <a:latin typeface="Century Gothic" panose="020B0502020202020204" pitchFamily="34" charset="0"/>
              </a:rPr>
              <a:t>ACC controller</a:t>
            </a:r>
          </a:p>
          <a:p>
            <a:pPr marL="457200" indent="-457200">
              <a:buFont typeface="Arial" panose="020B0604020202020204" pitchFamily="34" charset="0"/>
              <a:buChar char="•"/>
            </a:pPr>
            <a:r>
              <a:rPr lang="en-US" sz="2400" dirty="0">
                <a:latin typeface="Century Gothic" panose="020B0502020202020204" pitchFamily="34" charset="0"/>
              </a:rPr>
              <a:t>Sensor</a:t>
            </a:r>
          </a:p>
          <a:p>
            <a:pPr marL="457200" indent="-457200">
              <a:buFont typeface="Arial" panose="020B0604020202020204" pitchFamily="34" charset="0"/>
              <a:buChar char="•"/>
            </a:pPr>
            <a:r>
              <a:rPr lang="en-US" sz="2400" dirty="0">
                <a:latin typeface="Century Gothic" panose="020B0502020202020204" pitchFamily="34" charset="0"/>
              </a:rPr>
              <a:t>Scene</a:t>
            </a:r>
          </a:p>
          <a:p>
            <a:pPr marL="457200" indent="-457200">
              <a:buFont typeface="Arial" panose="020B0604020202020204" pitchFamily="34" charset="0"/>
              <a:buChar char="•"/>
            </a:pPr>
            <a:r>
              <a:rPr lang="en-US" sz="2400" dirty="0">
                <a:latin typeface="Century Gothic" panose="020B0502020202020204" pitchFamily="34" charset="0"/>
              </a:rPr>
              <a:t>Vehicle position (scene)</a:t>
            </a:r>
          </a:p>
          <a:p>
            <a:pPr marL="457200" indent="-457200">
              <a:buFont typeface="Arial" panose="020B0604020202020204" pitchFamily="34" charset="0"/>
              <a:buChar char="•"/>
            </a:pPr>
            <a:r>
              <a:rPr lang="en-US" sz="2400" dirty="0">
                <a:latin typeface="Century Gothic" panose="020B0502020202020204" pitchFamily="34" charset="0"/>
              </a:rPr>
              <a:t>Data exporting</a:t>
            </a:r>
          </a:p>
          <a:p>
            <a:pPr marL="457200" indent="-457200">
              <a:buFont typeface="Arial" panose="020B0604020202020204" pitchFamily="34" charset="0"/>
              <a:buChar char="•"/>
            </a:pPr>
            <a:r>
              <a:rPr lang="en-US" sz="2400" dirty="0">
                <a:latin typeface="Century Gothic" panose="020B0502020202020204" pitchFamily="34" charset="0"/>
              </a:rPr>
              <a:t>Development tools</a:t>
            </a:r>
          </a:p>
          <a:p>
            <a:endParaRPr lang="en-US" sz="2800" dirty="0">
              <a:latin typeface="Century Gothic" panose="020B0502020202020204" pitchFamily="34" charset="0"/>
            </a:endParaRPr>
          </a:p>
        </p:txBody>
      </p:sp>
    </p:spTree>
    <p:extLst>
      <p:ext uri="{BB962C8B-B14F-4D97-AF65-F5344CB8AC3E}">
        <p14:creationId xmlns:p14="http://schemas.microsoft.com/office/powerpoint/2010/main" val="3560336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98FBE1-72AF-46C1-B101-36C3AAA5A264}"/>
              </a:ext>
            </a:extLst>
          </p:cNvPr>
          <p:cNvSpPr txBox="1"/>
          <p:nvPr/>
        </p:nvSpPr>
        <p:spPr>
          <a:xfrm>
            <a:off x="893584" y="382893"/>
            <a:ext cx="6095342" cy="461665"/>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Century Gothic" panose="020B0502020202020204" pitchFamily="34" charset="0"/>
              </a:rPr>
              <a:t>Overall system model: </a:t>
            </a:r>
            <a:endParaRPr lang="en-US" sz="2400" dirty="0"/>
          </a:p>
        </p:txBody>
      </p:sp>
      <p:pic>
        <p:nvPicPr>
          <p:cNvPr id="6" name="Picture 5">
            <a:extLst>
              <a:ext uri="{FF2B5EF4-FFF2-40B4-BE49-F238E27FC236}">
                <a16:creationId xmlns:a16="http://schemas.microsoft.com/office/drawing/2014/main" id="{FFC05956-2713-409B-BEB2-40DA2B81F397}"/>
              </a:ext>
            </a:extLst>
          </p:cNvPr>
          <p:cNvPicPr>
            <a:picLocks noChangeAspect="1"/>
          </p:cNvPicPr>
          <p:nvPr/>
        </p:nvPicPr>
        <p:blipFill>
          <a:blip r:embed="rId2"/>
          <a:stretch>
            <a:fillRect/>
          </a:stretch>
        </p:blipFill>
        <p:spPr>
          <a:xfrm>
            <a:off x="1074886" y="1010043"/>
            <a:ext cx="11117113" cy="5355747"/>
          </a:xfrm>
          <a:prstGeom prst="rect">
            <a:avLst/>
          </a:prstGeom>
        </p:spPr>
      </p:pic>
    </p:spTree>
    <p:extLst>
      <p:ext uri="{BB962C8B-B14F-4D97-AF65-F5344CB8AC3E}">
        <p14:creationId xmlns:p14="http://schemas.microsoft.com/office/powerpoint/2010/main" val="2516544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3DC5A1-BE1E-4A1C-8AC9-3BC5F7B1B79B}"/>
              </a:ext>
            </a:extLst>
          </p:cNvPr>
          <p:cNvSpPr txBox="1"/>
          <p:nvPr/>
        </p:nvSpPr>
        <p:spPr>
          <a:xfrm>
            <a:off x="887797" y="367127"/>
            <a:ext cx="4639827" cy="3785652"/>
          </a:xfrm>
          <a:prstGeom prst="rect">
            <a:avLst/>
          </a:prstGeom>
          <a:noFill/>
        </p:spPr>
        <p:txBody>
          <a:bodyPr wrap="square">
            <a:spAutoFit/>
          </a:bodyPr>
          <a:lstStyle/>
          <a:p>
            <a:pPr marL="457200" indent="-457200">
              <a:buFont typeface="Arial" panose="020B0604020202020204" pitchFamily="34" charset="0"/>
              <a:buChar char="•"/>
            </a:pPr>
            <a:r>
              <a:rPr lang="en-US" sz="2400" dirty="0">
                <a:latin typeface="Century Gothic" panose="020B0502020202020204" pitchFamily="34" charset="0"/>
              </a:rPr>
              <a:t>Input signal configuration: </a:t>
            </a:r>
          </a:p>
          <a:p>
            <a:endParaRPr lang="en-US" sz="2400" dirty="0">
              <a:latin typeface="Century Gothic" panose="020B0502020202020204" pitchFamily="34" charset="0"/>
            </a:endParaRPr>
          </a:p>
          <a:p>
            <a:endParaRPr lang="en-US" sz="2400" dirty="0">
              <a:latin typeface="Century Gothic" panose="020B0502020202020204" pitchFamily="34" charset="0"/>
            </a:endParaRPr>
          </a:p>
          <a:p>
            <a:endParaRPr lang="en-US" sz="2400" dirty="0">
              <a:latin typeface="Century Gothic" panose="020B0502020202020204" pitchFamily="34" charset="0"/>
            </a:endParaRPr>
          </a:p>
          <a:p>
            <a:endParaRPr lang="en-US" sz="2400" dirty="0">
              <a:latin typeface="Century Gothic" panose="020B0502020202020204" pitchFamily="34" charset="0"/>
            </a:endParaRPr>
          </a:p>
          <a:p>
            <a:endParaRPr lang="en-US" sz="2400" dirty="0">
              <a:latin typeface="Century Gothic" panose="020B0502020202020204" pitchFamily="34" charset="0"/>
            </a:endParaRPr>
          </a:p>
          <a:p>
            <a:endParaRPr lang="en-US" sz="2400" dirty="0">
              <a:latin typeface="Century Gothic" panose="020B0502020202020204" pitchFamily="34" charset="0"/>
            </a:endParaRPr>
          </a:p>
          <a:p>
            <a:endParaRPr lang="en-US" sz="2400" dirty="0">
              <a:latin typeface="Century Gothic" panose="020B0502020202020204" pitchFamily="34" charset="0"/>
            </a:endParaRPr>
          </a:p>
          <a:p>
            <a:pPr marL="342900" indent="-342900">
              <a:buFont typeface="Arial" panose="020B0604020202020204" pitchFamily="34" charset="0"/>
              <a:buChar char="•"/>
            </a:pPr>
            <a:r>
              <a:rPr lang="en-US" sz="2400" dirty="0">
                <a:latin typeface="Century Gothic" panose="020B0502020202020204" pitchFamily="34" charset="0"/>
              </a:rPr>
              <a:t> ACC controller:</a:t>
            </a:r>
          </a:p>
          <a:p>
            <a:endParaRPr lang="en-US" sz="2400" dirty="0">
              <a:latin typeface="Century Gothic" panose="020B0502020202020204" pitchFamily="34" charset="0"/>
            </a:endParaRPr>
          </a:p>
        </p:txBody>
      </p:sp>
      <p:pic>
        <p:nvPicPr>
          <p:cNvPr id="3074" name="Picture 2" descr="-pu5!S &#10;papuaau' LuałsĂsqns Kue•auay teue•'S aul ">
            <a:extLst>
              <a:ext uri="{FF2B5EF4-FFF2-40B4-BE49-F238E27FC236}">
                <a16:creationId xmlns:a16="http://schemas.microsoft.com/office/drawing/2014/main" id="{FE4FF1DC-B3C7-4850-9EA5-F06F9A4EEC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9847" y="832288"/>
            <a:ext cx="3278570" cy="228506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achine generated alternative text:&#10;&#10;">
            <a:extLst>
              <a:ext uri="{FF2B5EF4-FFF2-40B4-BE49-F238E27FC236}">
                <a16:creationId xmlns:a16="http://schemas.microsoft.com/office/drawing/2014/main" id="{182B72D2-C339-42EF-8535-D3816AF08B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847" y="3740649"/>
            <a:ext cx="2460326" cy="3022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643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E568EF-9FB5-4B1A-9D1B-6807E3213126}"/>
              </a:ext>
            </a:extLst>
          </p:cNvPr>
          <p:cNvSpPr txBox="1"/>
          <p:nvPr/>
        </p:nvSpPr>
        <p:spPr>
          <a:xfrm>
            <a:off x="883854" y="371068"/>
            <a:ext cx="6095342" cy="3785652"/>
          </a:xfrm>
          <a:prstGeom prst="rect">
            <a:avLst/>
          </a:prstGeom>
          <a:noFill/>
        </p:spPr>
        <p:txBody>
          <a:bodyPr wrap="square">
            <a:spAutoFit/>
          </a:bodyPr>
          <a:lstStyle/>
          <a:p>
            <a:pPr marL="457200" indent="-457200">
              <a:buFont typeface="Arial" panose="020B0604020202020204" pitchFamily="34" charset="0"/>
              <a:buChar char="•"/>
            </a:pPr>
            <a:r>
              <a:rPr lang="en-US" sz="2400" dirty="0">
                <a:latin typeface="Century Gothic" panose="020B0502020202020204" pitchFamily="34" charset="0"/>
              </a:rPr>
              <a:t>Sensor:</a:t>
            </a: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r>
              <a:rPr lang="en-US" sz="2400" dirty="0">
                <a:latin typeface="Century Gothic" panose="020B0502020202020204" pitchFamily="34" charset="0"/>
              </a:rPr>
              <a:t>Scene:</a:t>
            </a:r>
          </a:p>
          <a:p>
            <a:endParaRPr lang="en-US" sz="2400" dirty="0">
              <a:latin typeface="Century Gothic" panose="020B0502020202020204" pitchFamily="34" charset="0"/>
            </a:endParaRPr>
          </a:p>
        </p:txBody>
      </p:sp>
      <p:pic>
        <p:nvPicPr>
          <p:cNvPr id="5122" name="Picture 2" descr="Machine generated alternative text:&#10;&#10;">
            <a:extLst>
              <a:ext uri="{FF2B5EF4-FFF2-40B4-BE49-F238E27FC236}">
                <a16:creationId xmlns:a16="http://schemas.microsoft.com/office/drawing/2014/main" id="{8CF0CFB3-0D9E-4D9B-88C7-95B75E32B9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6580" y="860535"/>
            <a:ext cx="5417085" cy="199302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achine generated alternative text:&#10;&#10;">
            <a:extLst>
              <a:ext uri="{FF2B5EF4-FFF2-40B4-BE49-F238E27FC236}">
                <a16:creationId xmlns:a16="http://schemas.microsoft.com/office/drawing/2014/main" id="{FF94CC3B-306F-4A2F-B23E-D2E2DFDCEB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6580" y="3827080"/>
            <a:ext cx="2435761" cy="2829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547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CEC3EA-9D02-480D-A1AB-6CC7B4EB15F1}"/>
              </a:ext>
            </a:extLst>
          </p:cNvPr>
          <p:cNvSpPr txBox="1"/>
          <p:nvPr/>
        </p:nvSpPr>
        <p:spPr>
          <a:xfrm>
            <a:off x="895679" y="375009"/>
            <a:ext cx="6095342" cy="3046988"/>
          </a:xfrm>
          <a:prstGeom prst="rect">
            <a:avLst/>
          </a:prstGeom>
          <a:noFill/>
        </p:spPr>
        <p:txBody>
          <a:bodyPr wrap="square">
            <a:spAutoFit/>
          </a:bodyPr>
          <a:lstStyle/>
          <a:p>
            <a:pPr marL="457200" indent="-457200">
              <a:buFont typeface="Arial" panose="020B0604020202020204" pitchFamily="34" charset="0"/>
              <a:buChar char="•"/>
            </a:pPr>
            <a:r>
              <a:rPr lang="en-US" sz="2400" dirty="0">
                <a:latin typeface="Century Gothic" panose="020B0502020202020204" pitchFamily="34" charset="0"/>
              </a:rPr>
              <a:t>Vehicle position (scene):</a:t>
            </a:r>
          </a:p>
          <a:p>
            <a:endParaRPr lang="en-US" sz="2400" dirty="0">
              <a:latin typeface="Century Gothic" panose="020B0502020202020204" pitchFamily="34" charset="0"/>
            </a:endParaRPr>
          </a:p>
          <a:p>
            <a:endParaRPr lang="en-US" sz="2400" dirty="0">
              <a:latin typeface="Century Gothic" panose="020B0502020202020204" pitchFamily="34" charset="0"/>
            </a:endParaRPr>
          </a:p>
          <a:p>
            <a:endParaRPr lang="en-US" sz="2400" dirty="0">
              <a:latin typeface="Century Gothic" panose="020B0502020202020204" pitchFamily="34" charset="0"/>
            </a:endParaRPr>
          </a:p>
          <a:p>
            <a:endParaRPr lang="en-US" sz="2400" dirty="0">
              <a:latin typeface="Century Gothic" panose="020B0502020202020204" pitchFamily="34" charset="0"/>
            </a:endParaRPr>
          </a:p>
          <a:p>
            <a:endParaRPr lang="en-US" sz="2400" dirty="0">
              <a:latin typeface="Century Gothic" panose="020B0502020202020204" pitchFamily="34" charset="0"/>
            </a:endParaRPr>
          </a:p>
          <a:p>
            <a:endParaRPr lang="en-US" sz="2400" dirty="0">
              <a:latin typeface="Century Gothic" panose="020B0502020202020204" pitchFamily="34" charset="0"/>
            </a:endParaRPr>
          </a:p>
          <a:p>
            <a:endParaRPr lang="en-US" sz="2400" dirty="0">
              <a:latin typeface="Century Gothic" panose="020B0502020202020204" pitchFamily="34" charset="0"/>
            </a:endParaRPr>
          </a:p>
        </p:txBody>
      </p:sp>
      <p:pic>
        <p:nvPicPr>
          <p:cNvPr id="6146" name="Picture 2" descr="Machine generated alternative text:&#10;&#10;">
            <a:extLst>
              <a:ext uri="{FF2B5EF4-FFF2-40B4-BE49-F238E27FC236}">
                <a16:creationId xmlns:a16="http://schemas.microsoft.com/office/drawing/2014/main" id="{EADD55DC-82D7-4244-8FE5-246C720A66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7946" y="923925"/>
            <a:ext cx="2517627" cy="17049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Machine generated alternative text:&#10;&#10;">
            <a:extLst>
              <a:ext uri="{FF2B5EF4-FFF2-40B4-BE49-F238E27FC236}">
                <a16:creationId xmlns:a16="http://schemas.microsoft.com/office/drawing/2014/main" id="{1794F50C-005D-4E32-93F1-4574A36FA8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7946" y="2731376"/>
            <a:ext cx="4888667" cy="3976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900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819A94-93D7-4C5C-B192-F554B3338374}"/>
              </a:ext>
            </a:extLst>
          </p:cNvPr>
          <p:cNvSpPr txBox="1"/>
          <p:nvPr/>
        </p:nvSpPr>
        <p:spPr>
          <a:xfrm>
            <a:off x="895679" y="375010"/>
            <a:ext cx="6095342" cy="4524315"/>
          </a:xfrm>
          <a:prstGeom prst="rect">
            <a:avLst/>
          </a:prstGeom>
          <a:noFill/>
        </p:spPr>
        <p:txBody>
          <a:bodyPr wrap="square">
            <a:spAutoFit/>
          </a:bodyPr>
          <a:lstStyle/>
          <a:p>
            <a:pPr marL="457200" indent="-457200">
              <a:buFont typeface="Arial" panose="020B0604020202020204" pitchFamily="34" charset="0"/>
              <a:buChar char="•"/>
            </a:pPr>
            <a:r>
              <a:rPr lang="en-US" sz="2400" dirty="0">
                <a:latin typeface="Century Gothic" panose="020B0502020202020204" pitchFamily="34" charset="0"/>
              </a:rPr>
              <a:t>Data exporting:</a:t>
            </a: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endParaRPr lang="en-US" sz="2400" dirty="0">
              <a:latin typeface="Century Gothic" panose="020B0502020202020204" pitchFamily="34" charset="0"/>
            </a:endParaRPr>
          </a:p>
          <a:p>
            <a:pPr marL="457200" indent="-457200">
              <a:buFont typeface="Arial" panose="020B0604020202020204" pitchFamily="34" charset="0"/>
              <a:buChar char="•"/>
            </a:pPr>
            <a:r>
              <a:rPr lang="en-US" sz="2400" dirty="0">
                <a:latin typeface="Century Gothic" panose="020B0502020202020204" pitchFamily="34" charset="0"/>
              </a:rPr>
              <a:t>Development tools:</a:t>
            </a:r>
          </a:p>
          <a:p>
            <a:endParaRPr lang="en-US" sz="2400" dirty="0">
              <a:latin typeface="Century Gothic" panose="020B0502020202020204" pitchFamily="34" charset="0"/>
            </a:endParaRPr>
          </a:p>
          <a:p>
            <a:endParaRPr lang="en-US" sz="2400" dirty="0">
              <a:latin typeface="Century Gothic" panose="020B0502020202020204" pitchFamily="34" charset="0"/>
            </a:endParaRPr>
          </a:p>
          <a:p>
            <a:endParaRPr lang="en-US" sz="2400" dirty="0">
              <a:latin typeface="Century Gothic" panose="020B0502020202020204" pitchFamily="34" charset="0"/>
            </a:endParaRPr>
          </a:p>
        </p:txBody>
      </p:sp>
      <p:pic>
        <p:nvPicPr>
          <p:cNvPr id="7170" name="Picture 2" descr="Machine generated alternative text:&#10;&#10;">
            <a:extLst>
              <a:ext uri="{FF2B5EF4-FFF2-40B4-BE49-F238E27FC236}">
                <a16:creationId xmlns:a16="http://schemas.microsoft.com/office/drawing/2014/main" id="{0B8C5514-6B7D-42E8-BB72-D0BED1B922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7343" y="940185"/>
            <a:ext cx="1776913" cy="211044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Machine generated alternative text:&#10;&#10;">
            <a:extLst>
              <a:ext uri="{FF2B5EF4-FFF2-40B4-BE49-F238E27FC236}">
                <a16:creationId xmlns:a16="http://schemas.microsoft.com/office/drawing/2014/main" id="{576F1A80-4545-4480-949C-400F60C6C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7343" y="3929555"/>
            <a:ext cx="4135224" cy="2110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660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86A2ED-3CD5-4C05-8723-20C540FC3C44}"/>
              </a:ext>
            </a:extLst>
          </p:cNvPr>
          <p:cNvSpPr txBox="1"/>
          <p:nvPr/>
        </p:nvSpPr>
        <p:spPr>
          <a:xfrm>
            <a:off x="895678" y="422307"/>
            <a:ext cx="11296321" cy="5755422"/>
          </a:xfrm>
          <a:prstGeom prst="rect">
            <a:avLst/>
          </a:prstGeom>
          <a:noFill/>
        </p:spPr>
        <p:txBody>
          <a:bodyPr wrap="square">
            <a:spAutoFit/>
          </a:bodyPr>
          <a:lstStyle/>
          <a:p>
            <a:r>
              <a:rPr lang="en-US" sz="2800" b="1" u="sng" dirty="0">
                <a:latin typeface="Century Gothic" panose="020B0502020202020204" pitchFamily="34" charset="0"/>
              </a:rPr>
              <a:t>Simulation</a:t>
            </a:r>
            <a:r>
              <a:rPr lang="en-US" sz="2800" b="1" dirty="0">
                <a:latin typeface="Century Gothic" panose="020B0502020202020204" pitchFamily="34" charset="0"/>
              </a:rPr>
              <a:t>:</a:t>
            </a:r>
          </a:p>
          <a:p>
            <a:endParaRPr lang="en-US" sz="2800" b="1" dirty="0">
              <a:latin typeface="Century Gothic" panose="020B0502020202020204" pitchFamily="34" charset="0"/>
            </a:endParaRPr>
          </a:p>
          <a:p>
            <a:r>
              <a:rPr lang="en-US" sz="2400" dirty="0">
                <a:latin typeface="Century Gothic" panose="020B0502020202020204" pitchFamily="34" charset="0"/>
              </a:rPr>
              <a:t>Guided User Interface (GUI):</a:t>
            </a:r>
          </a:p>
          <a:p>
            <a:endParaRPr lang="en-US" sz="2400" dirty="0">
              <a:latin typeface="Century Gothic" panose="020B0502020202020204" pitchFamily="34" charset="0"/>
            </a:endParaRPr>
          </a:p>
          <a:p>
            <a:pPr marL="285750" indent="-285750">
              <a:buFont typeface="Arial" panose="020B0604020202020204" pitchFamily="34" charset="0"/>
              <a:buChar char="•"/>
            </a:pPr>
            <a:r>
              <a:rPr lang="en-US" sz="2400" dirty="0">
                <a:latin typeface="Century Gothic" panose="020B0502020202020204" pitchFamily="34" charset="0"/>
              </a:rPr>
              <a:t>A GUI has been designed for a user-friendly approach to understanding the basics of the Adaptive Cruise Control system. The user will choose the Simulink model of choice, followed by entering the critical parameters required. The user will also define the length of the simulation, via the </a:t>
            </a:r>
            <a:r>
              <a:rPr lang="en-US" sz="2400" i="1" dirty="0">
                <a:latin typeface="Century Gothic" panose="020B0502020202020204" pitchFamily="34" charset="0"/>
              </a:rPr>
              <a:t>Simulation Time </a:t>
            </a:r>
            <a:r>
              <a:rPr lang="en-US" sz="2400" dirty="0">
                <a:latin typeface="Century Gothic" panose="020B0502020202020204" pitchFamily="34" charset="0"/>
              </a:rPr>
              <a:t>slider. Simulation controls are embedded onto the GUI for the user to begin the simulation, along with the ability to stop (when required). Relevant system data will be plotted for functional evaluation, after the simulation has concluded.</a:t>
            </a:r>
          </a:p>
          <a:p>
            <a:endParaRPr lang="en-US" dirty="0">
              <a:latin typeface="Century Gothic" panose="020B0502020202020204" pitchFamily="34" charset="0"/>
            </a:endParaRPr>
          </a:p>
          <a:p>
            <a:pPr marL="285750" indent="-285750">
              <a:buFont typeface="Arial" panose="020B0604020202020204" pitchFamily="34" charset="0"/>
              <a:buChar char="•"/>
            </a:pPr>
            <a:endParaRPr lang="en-US" dirty="0">
              <a:latin typeface="Century Gothic" panose="020B0502020202020204" pitchFamily="34" charset="0"/>
            </a:endParaRPr>
          </a:p>
          <a:p>
            <a:endParaRPr lang="en-US" dirty="0">
              <a:latin typeface="Century Gothic" panose="020B0502020202020204" pitchFamily="34" charset="0"/>
            </a:endParaRPr>
          </a:p>
          <a:p>
            <a:endParaRPr lang="en-US" dirty="0">
              <a:latin typeface="Century Gothic" panose="020B0502020202020204" pitchFamily="34" charset="0"/>
            </a:endParaRPr>
          </a:p>
        </p:txBody>
      </p:sp>
    </p:spTree>
    <p:extLst>
      <p:ext uri="{BB962C8B-B14F-4D97-AF65-F5344CB8AC3E}">
        <p14:creationId xmlns:p14="http://schemas.microsoft.com/office/powerpoint/2010/main" val="4163971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008102-A053-431A-8FCB-1F9380CBF50F}"/>
              </a:ext>
            </a:extLst>
          </p:cNvPr>
          <p:cNvPicPr>
            <a:picLocks noChangeAspect="1"/>
          </p:cNvPicPr>
          <p:nvPr/>
        </p:nvPicPr>
        <p:blipFill>
          <a:blip r:embed="rId2"/>
          <a:stretch>
            <a:fillRect/>
          </a:stretch>
        </p:blipFill>
        <p:spPr>
          <a:xfrm>
            <a:off x="965024" y="1245476"/>
            <a:ext cx="11226975" cy="5329659"/>
          </a:xfrm>
          <a:prstGeom prst="rect">
            <a:avLst/>
          </a:prstGeom>
        </p:spPr>
      </p:pic>
      <p:sp>
        <p:nvSpPr>
          <p:cNvPr id="6" name="TextBox 5">
            <a:extLst>
              <a:ext uri="{FF2B5EF4-FFF2-40B4-BE49-F238E27FC236}">
                <a16:creationId xmlns:a16="http://schemas.microsoft.com/office/drawing/2014/main" id="{624CB9D0-ABA1-40D8-B54C-C9E33F19C508}"/>
              </a:ext>
            </a:extLst>
          </p:cNvPr>
          <p:cNvSpPr txBox="1"/>
          <p:nvPr/>
        </p:nvSpPr>
        <p:spPr>
          <a:xfrm>
            <a:off x="882255" y="442013"/>
            <a:ext cx="6095342" cy="461665"/>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Century Gothic" panose="020B0502020202020204" pitchFamily="34" charset="0"/>
              </a:rPr>
              <a:t>GUI display:</a:t>
            </a:r>
          </a:p>
        </p:txBody>
      </p:sp>
    </p:spTree>
    <p:extLst>
      <p:ext uri="{BB962C8B-B14F-4D97-AF65-F5344CB8AC3E}">
        <p14:creationId xmlns:p14="http://schemas.microsoft.com/office/powerpoint/2010/main" val="2780566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B06943-6A03-4CCE-9712-D3BEA0DA4382}"/>
              </a:ext>
            </a:extLst>
          </p:cNvPr>
          <p:cNvSpPr txBox="1"/>
          <p:nvPr/>
        </p:nvSpPr>
        <p:spPr>
          <a:xfrm>
            <a:off x="883855" y="452734"/>
            <a:ext cx="11161000" cy="1107996"/>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Century Gothic" panose="020B0502020202020204" pitchFamily="34" charset="0"/>
              </a:rPr>
              <a:t>Once the simulation has begun, animation will commence, creating an active driving experience displaying ACC operation </a:t>
            </a:r>
          </a:p>
          <a:p>
            <a:endParaRPr lang="en-US" dirty="0">
              <a:latin typeface="Century Gothic" panose="020B0502020202020204" pitchFamily="34" charset="0"/>
            </a:endParaRPr>
          </a:p>
        </p:txBody>
      </p:sp>
      <p:pic>
        <p:nvPicPr>
          <p:cNvPr id="5" name="Picture 4">
            <a:extLst>
              <a:ext uri="{FF2B5EF4-FFF2-40B4-BE49-F238E27FC236}">
                <a16:creationId xmlns:a16="http://schemas.microsoft.com/office/drawing/2014/main" id="{E5E7F4E0-3B90-4CFF-8743-7DA93FEB34D1}"/>
              </a:ext>
            </a:extLst>
          </p:cNvPr>
          <p:cNvPicPr>
            <a:picLocks noChangeAspect="1"/>
          </p:cNvPicPr>
          <p:nvPr/>
        </p:nvPicPr>
        <p:blipFill>
          <a:blip r:embed="rId2"/>
          <a:stretch>
            <a:fillRect/>
          </a:stretch>
        </p:blipFill>
        <p:spPr>
          <a:xfrm>
            <a:off x="1199871" y="1446486"/>
            <a:ext cx="9599138" cy="5411514"/>
          </a:xfrm>
          <a:prstGeom prst="rect">
            <a:avLst/>
          </a:prstGeom>
        </p:spPr>
      </p:pic>
    </p:spTree>
    <p:extLst>
      <p:ext uri="{BB962C8B-B14F-4D97-AF65-F5344CB8AC3E}">
        <p14:creationId xmlns:p14="http://schemas.microsoft.com/office/powerpoint/2010/main" val="1116799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2EE3CC-3A46-47C6-8433-0F4B0ECA51B6}"/>
              </a:ext>
            </a:extLst>
          </p:cNvPr>
          <p:cNvSpPr txBox="1"/>
          <p:nvPr/>
        </p:nvSpPr>
        <p:spPr>
          <a:xfrm>
            <a:off x="887796" y="433552"/>
            <a:ext cx="10798394" cy="1107996"/>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Century Gothic" panose="020B0502020202020204" pitchFamily="34" charset="0"/>
              </a:rPr>
              <a:t>Upon completion of the animation, the relevant position and velocity data becomes populated onto the GUI panel</a:t>
            </a:r>
          </a:p>
          <a:p>
            <a:endParaRPr lang="en-US" dirty="0">
              <a:latin typeface="Century Gothic" panose="020B0502020202020204" pitchFamily="34" charset="0"/>
            </a:endParaRPr>
          </a:p>
        </p:txBody>
      </p:sp>
      <p:pic>
        <p:nvPicPr>
          <p:cNvPr id="5" name="Picture 4">
            <a:extLst>
              <a:ext uri="{FF2B5EF4-FFF2-40B4-BE49-F238E27FC236}">
                <a16:creationId xmlns:a16="http://schemas.microsoft.com/office/drawing/2014/main" id="{4C3AB93B-2B0B-46CB-8B89-E7B266ADCC09}"/>
              </a:ext>
            </a:extLst>
          </p:cNvPr>
          <p:cNvPicPr>
            <a:picLocks noChangeAspect="1"/>
          </p:cNvPicPr>
          <p:nvPr/>
        </p:nvPicPr>
        <p:blipFill>
          <a:blip r:embed="rId2"/>
          <a:stretch>
            <a:fillRect/>
          </a:stretch>
        </p:blipFill>
        <p:spPr>
          <a:xfrm>
            <a:off x="1180883" y="1497476"/>
            <a:ext cx="11011117" cy="4926972"/>
          </a:xfrm>
          <a:prstGeom prst="rect">
            <a:avLst/>
          </a:prstGeom>
        </p:spPr>
      </p:pic>
    </p:spTree>
    <p:extLst>
      <p:ext uri="{BB962C8B-B14F-4D97-AF65-F5344CB8AC3E}">
        <p14:creationId xmlns:p14="http://schemas.microsoft.com/office/powerpoint/2010/main" val="1342120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10B220-FDBD-4561-8547-54AE02EDBF6B}"/>
              </a:ext>
            </a:extLst>
          </p:cNvPr>
          <p:cNvSpPr txBox="1"/>
          <p:nvPr/>
        </p:nvSpPr>
        <p:spPr>
          <a:xfrm>
            <a:off x="978448" y="406541"/>
            <a:ext cx="11011228" cy="5016758"/>
          </a:xfrm>
          <a:prstGeom prst="rect">
            <a:avLst/>
          </a:prstGeom>
          <a:noFill/>
        </p:spPr>
        <p:txBody>
          <a:bodyPr wrap="square">
            <a:spAutoFit/>
          </a:bodyPr>
          <a:lstStyle/>
          <a:p>
            <a:r>
              <a:rPr lang="en-US" sz="2800" b="1" u="sng" dirty="0">
                <a:latin typeface="Century Gothic" panose="020B0502020202020204" pitchFamily="34" charset="0"/>
              </a:rPr>
              <a:t>System Conclusion</a:t>
            </a:r>
            <a:r>
              <a:rPr lang="en-US" sz="2800" b="1" dirty="0">
                <a:latin typeface="Century Gothic" panose="020B0502020202020204" pitchFamily="34" charset="0"/>
              </a:rPr>
              <a:t>:</a:t>
            </a:r>
          </a:p>
          <a:p>
            <a:endParaRPr lang="en-US" sz="2800" b="1" dirty="0">
              <a:latin typeface="Century Gothic" panose="020B0502020202020204" pitchFamily="34" charset="0"/>
            </a:endParaRPr>
          </a:p>
          <a:p>
            <a:r>
              <a:rPr lang="en-US" sz="2400" dirty="0">
                <a:effectLst/>
                <a:latin typeface="Century Gothic" panose="020B0502020202020204" pitchFamily="34" charset="0"/>
              </a:rPr>
              <a:t>Adaptive Cruise Control (ACC) is an innovative approach toward vehicle autonomy. </a:t>
            </a:r>
            <a:r>
              <a:rPr lang="en-US" sz="2400" dirty="0">
                <a:latin typeface="Century Gothic" panose="020B0502020202020204" pitchFamily="34" charset="0"/>
              </a:rPr>
              <a:t>The ACC simulation experienced during this presentation provides insight on the critical parameters that are used for functional operation of the system. </a:t>
            </a:r>
            <a:r>
              <a:rPr lang="en-US" sz="2400" dirty="0">
                <a:effectLst/>
                <a:latin typeface="Century Gothic" panose="020B0502020202020204" pitchFamily="34" charset="0"/>
              </a:rPr>
              <a:t>The notion of optimal traffic flow may be attained with an increased amount of vehicles actively using an ACC system, effectively creating a “platoon of vehicles”. While the system may not offer the greatest value in stop-and-go traffic, it provides its greatest opportunity to lend efficiency with traffic-flow issues when </a:t>
            </a:r>
            <a:r>
              <a:rPr lang="en-US" sz="2400" dirty="0">
                <a:latin typeface="Century Gothic" panose="020B0502020202020204" pitchFamily="34" charset="0"/>
              </a:rPr>
              <a:t>extended periods of unobstructed travel is expected (e.g. highways/interstates). </a:t>
            </a:r>
            <a:br>
              <a:rPr lang="en-US" sz="2400" dirty="0">
                <a:effectLst/>
                <a:latin typeface="Century Gothic" panose="020B0502020202020204" pitchFamily="34" charset="0"/>
              </a:rPr>
            </a:br>
            <a:endParaRPr lang="en-US" sz="2400" dirty="0">
              <a:latin typeface="Century Gothic" panose="020B0502020202020204" pitchFamily="34" charset="0"/>
            </a:endParaRPr>
          </a:p>
        </p:txBody>
      </p:sp>
    </p:spTree>
    <p:extLst>
      <p:ext uri="{BB962C8B-B14F-4D97-AF65-F5344CB8AC3E}">
        <p14:creationId xmlns:p14="http://schemas.microsoft.com/office/powerpoint/2010/main" val="84252246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45FB24-BEC6-4D44-888B-84AEBBA2DC09}">
  <ds:schemaRefs>
    <ds:schemaRef ds:uri="http://schemas.microsoft.com/sharepoint/v3/contenttype/forms"/>
  </ds:schemaRefs>
</ds:datastoreItem>
</file>

<file path=customXml/itemProps2.xml><?xml version="1.0" encoding="utf-8"?>
<ds:datastoreItem xmlns:ds="http://schemas.openxmlformats.org/officeDocument/2006/customXml" ds:itemID="{3FD9A38F-9A2C-42E5-9013-4C4B1FFCB4F6}">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7ECF6D8-9EA4-45A1-AFEB-B7C326AF08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Crop design</Template>
  <TotalTime>5879</TotalTime>
  <Words>701</Words>
  <Application>Microsoft Office PowerPoint</Application>
  <PresentationFormat>Widescreen</PresentationFormat>
  <Paragraphs>85</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 Math</vt:lpstr>
      <vt:lpstr>Century Gothic</vt:lpstr>
      <vt:lpstr>Franklin Gothic Book</vt:lpstr>
      <vt:lpstr>Crop</vt:lpstr>
      <vt:lpstr>Adaptive cruise control</vt:lpstr>
      <vt:lpstr>System Overview:  Adaptive Cruise Control (ACC) is an automotive feature that allows a vehicle's cruise control system to adapt the vehicle's speed to the traffic environment. A radar system attached to the front of the vehicle is used to detect whether slower moving vehicles are in the ACC vehicle's path. If a slower moving vehicle is detected, the ACC system will slow the vehicle down and control the clearance, or time gap, between the ACC vehicle and the forward vehicle. If the system detects that the forward vehicle is no longer in the ACC vehicle's path, the ACC system will accelerate the vehicle back to its set cruise control speed. This operation allows the ACC vehicle to autonomously slow down and speed up with traffic without intervention from the driver.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cruise control</dc:title>
  <dc:creator>David Contreras</dc:creator>
  <cp:lastModifiedBy>David Contreras</cp:lastModifiedBy>
  <cp:revision>49</cp:revision>
  <dcterms:created xsi:type="dcterms:W3CDTF">2020-11-19T02:37:26Z</dcterms:created>
  <dcterms:modified xsi:type="dcterms:W3CDTF">2020-12-21T04:17:32Z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